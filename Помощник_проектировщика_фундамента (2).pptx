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70" r:id="rId6"/>
    <p:sldId id="259" r:id="rId7"/>
    <p:sldId id="260" r:id="rId8"/>
    <p:sldId id="261" r:id="rId9"/>
    <p:sldId id="262" r:id="rId10"/>
    <p:sldId id="271" r:id="rId11"/>
    <p:sldId id="263" r:id="rId12"/>
    <p:sldId id="264" r:id="rId13"/>
    <p:sldId id="267" r:id="rId14"/>
    <p:sldId id="26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283" autoAdjust="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3C40B-13FD-4200-B318-6A4C4FE3DBD5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CD2E3-4C06-453C-9083-F08C8284C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92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делаем</a:t>
            </a:r>
            <a:r>
              <a:rPr dirty="0"/>
              <a:t> </a:t>
            </a:r>
            <a:r>
              <a:rPr dirty="0" err="1"/>
              <a:t>помощника</a:t>
            </a:r>
            <a:r>
              <a:rPr dirty="0"/>
              <a:t> </a:t>
            </a:r>
            <a:r>
              <a:rPr dirty="0" err="1"/>
              <a:t>проектировщика</a:t>
            </a:r>
            <a:r>
              <a:rPr dirty="0"/>
              <a:t> </a:t>
            </a:r>
            <a:r>
              <a:rPr dirty="0" err="1"/>
              <a:t>фундамента</a:t>
            </a:r>
            <a:r>
              <a:rPr dirty="0"/>
              <a:t>: </a:t>
            </a:r>
            <a:r>
              <a:rPr dirty="0" err="1"/>
              <a:t>сервис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данным</a:t>
            </a:r>
            <a:r>
              <a:rPr dirty="0"/>
              <a:t> о </a:t>
            </a:r>
            <a:r>
              <a:rPr dirty="0" err="1"/>
              <a:t>грунте</a:t>
            </a:r>
            <a:r>
              <a:rPr dirty="0"/>
              <a:t>, </a:t>
            </a:r>
            <a:r>
              <a:rPr dirty="0" err="1"/>
              <a:t>здании</a:t>
            </a:r>
            <a:r>
              <a:rPr dirty="0"/>
              <a:t> и </a:t>
            </a:r>
            <a:r>
              <a:rPr dirty="0" err="1"/>
              <a:t>площадке</a:t>
            </a:r>
            <a:r>
              <a:rPr dirty="0"/>
              <a:t> </a:t>
            </a:r>
            <a:r>
              <a:rPr dirty="0" err="1"/>
              <a:t>оценивает</a:t>
            </a:r>
            <a:r>
              <a:rPr dirty="0"/>
              <a:t> </a:t>
            </a:r>
            <a:r>
              <a:rPr dirty="0" err="1"/>
              <a:t>пригодность</a:t>
            </a:r>
            <a:r>
              <a:rPr dirty="0"/>
              <a:t> </a:t>
            </a:r>
            <a:r>
              <a:rPr dirty="0" err="1"/>
              <a:t>четырёх</a:t>
            </a:r>
            <a:r>
              <a:rPr dirty="0"/>
              <a:t> </a:t>
            </a:r>
            <a:r>
              <a:rPr dirty="0" err="1"/>
              <a:t>типов</a:t>
            </a:r>
            <a:r>
              <a:rPr dirty="0"/>
              <a:t> </a:t>
            </a:r>
            <a:r>
              <a:rPr dirty="0" err="1"/>
              <a:t>фундамента</a:t>
            </a:r>
            <a:r>
              <a:rPr dirty="0"/>
              <a:t> и </a:t>
            </a:r>
            <a:r>
              <a:rPr dirty="0" err="1"/>
              <a:t>объясняет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095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Команда проекта и зоны ответственности.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76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Главная боль заказчика — повторяющиеся типовые ошибки при подборе фундамента. Они приводят к трём и более итерациям проверки. Данные о росте цен — Росстат и Минстрой.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322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«Я как проектировщик хочу, чтобы система агрегировала геологию, конструктивную схему и нагрузки, генерировала варианты с ТЭО и отчёт — чтобы принять решение за минуты, а не часы».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812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Конкурентный</a:t>
            </a:r>
            <a:r>
              <a:rPr dirty="0"/>
              <a:t> </a:t>
            </a:r>
            <a:r>
              <a:rPr dirty="0" err="1"/>
              <a:t>анализ</a:t>
            </a:r>
            <a:r>
              <a:rPr dirty="0"/>
              <a:t>: ЛИРА-САПР, SCAD Office, </a:t>
            </a:r>
            <a:r>
              <a:rPr dirty="0" err="1"/>
              <a:t>nanoCAD</a:t>
            </a:r>
            <a:r>
              <a:rPr dirty="0"/>
              <a:t> </a:t>
            </a:r>
            <a:r>
              <a:rPr dirty="0" err="1"/>
              <a:t>Конструкции</a:t>
            </a:r>
            <a:r>
              <a:rPr dirty="0"/>
              <a:t> PS </a:t>
            </a:r>
            <a:r>
              <a:rPr dirty="0" err="1"/>
              <a:t>хорошо</a:t>
            </a:r>
            <a:r>
              <a:rPr dirty="0"/>
              <a:t> </a:t>
            </a:r>
            <a:r>
              <a:rPr dirty="0" err="1"/>
              <a:t>решают</a:t>
            </a:r>
            <a:r>
              <a:rPr dirty="0"/>
              <a:t> </a:t>
            </a:r>
            <a:r>
              <a:rPr dirty="0" err="1"/>
              <a:t>расчётные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автоматического</a:t>
            </a:r>
            <a:r>
              <a:rPr dirty="0"/>
              <a:t> </a:t>
            </a:r>
            <a:r>
              <a:rPr dirty="0" err="1"/>
              <a:t>сравнения</a:t>
            </a:r>
            <a:r>
              <a:rPr dirty="0"/>
              <a:t> </a:t>
            </a:r>
            <a:r>
              <a:rPr dirty="0" err="1"/>
              <a:t>альтернатив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стоимости</a:t>
            </a:r>
            <a:r>
              <a:rPr dirty="0"/>
              <a:t> в </a:t>
            </a:r>
            <a:r>
              <a:rPr dirty="0" err="1"/>
              <a:t>открытых</a:t>
            </a:r>
            <a:r>
              <a:rPr dirty="0"/>
              <a:t> </a:t>
            </a:r>
            <a:r>
              <a:rPr dirty="0" err="1"/>
              <a:t>описаниях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 </a:t>
            </a:r>
            <a:r>
              <a:rPr dirty="0" err="1"/>
              <a:t>Макротренды</a:t>
            </a:r>
            <a:r>
              <a:rPr dirty="0"/>
              <a:t>: </a:t>
            </a:r>
            <a:r>
              <a:rPr dirty="0" err="1"/>
              <a:t>переход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ТИМ, </a:t>
            </a:r>
            <a:r>
              <a:rPr dirty="0" err="1"/>
              <a:t>дефицит</a:t>
            </a:r>
            <a:r>
              <a:rPr dirty="0"/>
              <a:t> </a:t>
            </a:r>
            <a:r>
              <a:rPr dirty="0" err="1"/>
              <a:t>проектировщиков</a:t>
            </a:r>
            <a:r>
              <a:rPr dirty="0"/>
              <a:t>,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цен</a:t>
            </a:r>
            <a:r>
              <a:rPr dirty="0"/>
              <a:t>, </a:t>
            </a:r>
            <a:r>
              <a:rPr dirty="0" err="1"/>
              <a:t>регионализация</a:t>
            </a:r>
            <a:r>
              <a:rPr dirty="0"/>
              <a:t> </a:t>
            </a:r>
            <a:r>
              <a:rPr dirty="0" err="1"/>
              <a:t>ценообразования</a:t>
            </a:r>
            <a:r>
              <a:rPr dirty="0"/>
              <a:t> (ФГИС ЦС). Google Trends: </a:t>
            </a:r>
            <a:r>
              <a:rPr dirty="0" err="1"/>
              <a:t>спрос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цену</a:t>
            </a:r>
            <a:r>
              <a:rPr dirty="0"/>
              <a:t> и </a:t>
            </a:r>
            <a:r>
              <a:rPr dirty="0" err="1"/>
              <a:t>калькулятор</a:t>
            </a:r>
            <a:r>
              <a:rPr dirty="0"/>
              <a:t> </a:t>
            </a:r>
            <a:r>
              <a:rPr dirty="0" err="1"/>
              <a:t>фундамента</a:t>
            </a:r>
            <a:r>
              <a:rPr dirty="0"/>
              <a:t> </a:t>
            </a:r>
            <a:r>
              <a:rPr dirty="0" err="1"/>
              <a:t>устойчив</a:t>
            </a:r>
            <a:r>
              <a:rPr dirty="0"/>
              <a:t> и </a:t>
            </a:r>
            <a:r>
              <a:rPr dirty="0" err="1"/>
              <a:t>сезонен</a:t>
            </a:r>
            <a:r>
              <a:rPr dirty="0"/>
              <a:t>, </a:t>
            </a:r>
            <a:r>
              <a:rPr dirty="0" err="1"/>
              <a:t>запросы</a:t>
            </a:r>
            <a:r>
              <a:rPr dirty="0"/>
              <a:t> </a:t>
            </a:r>
            <a:r>
              <a:rPr dirty="0" err="1"/>
              <a:t>про</a:t>
            </a:r>
            <a:r>
              <a:rPr dirty="0"/>
              <a:t> ИИ </a:t>
            </a:r>
            <a:r>
              <a:rPr dirty="0" err="1"/>
              <a:t>единичны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Продукт простыми словами: ввёл данные площадки — получил, какой фундамент подходит лучше и почему.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341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Измеримых данных пока нет — эффект подтвердим на пилоте с заказчиком.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210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Показываем только функции, которые решают проблему. Честно отделяем то, чего MVP не делает.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260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Главное, что стоит запомнить: решение объяснимо. Матрица правил — это то же, что уходит в модель Jev, поэтому текст не расходится с числами.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556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E1793-0BB5-897A-89D0-5AC89A2E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169691-94FD-DB35-2AF0-49591651A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97B690-1044-7C50-9AEE-695677DDD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Главное, что стоит запомнить: решение объяснимо. Матрица правил — это то же, что уходит в модель Jev, поэтому текст не расходится с числами.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FF46F8-D979-BCB0-8EA4-1DF52774F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717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Путь: форма → /recommend (Jev + смета) → /analyze (DeepSeek) → отчёт для инженера.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338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Скриншоты сняты с прототипа из репозитория (проценты на скриншоте — локальный движок правил; в боевом режиме их считает Jev).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8656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Сроки этапов команда указывает сама; ориентир запуска — апрель–май по сезонности спроса.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64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Демо: проходим сценарий из слайда 11 вживую.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8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E305C-18B6-7E00-3B5D-A4FD0D06C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567583-AC7F-98D2-866C-56CEA1BD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F5614-181C-D044-02A3-C2BE3916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3438E-1A34-46F5-B5CF-CCFE10C1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EE0F89-3AB9-30E1-49AF-A37AD193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9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AF1F4-A727-1C45-3B64-D40802C4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BFB0E-D223-5021-7775-B006BB92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AE310-4CBE-724F-F786-AFD12F47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4E3C85-665C-510D-FA28-E4B1949A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297710-875B-5061-3DDC-527448E5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24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BDE8B-1CF8-6BF9-81A7-A98112EF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7ED05F-8929-018E-1DFC-8FC8C616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D77BE-700E-356E-599B-56B30D73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8E8FD8-C893-DB9C-650A-729979AE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C8EA9-06C3-BDF8-7C42-3A49F8F3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5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64489-B1A9-984F-074F-CD844153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CCCDE-942A-455B-AF3D-6D027939E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DAAEFF-656C-3263-2290-96E0D8DB5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FDB474-6751-96FB-52B3-0F30EB15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BA0C64-CFD4-D141-4E51-E2AD453B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48D041-DF94-D082-DF7A-88905053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88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7F3EC-2FC5-AA48-B1B4-86D8832B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8B901E-AE9A-667A-03F5-3F881849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52DC7F-30EC-2966-0C3A-013BD15AB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C5E9BA-6252-95BE-0B0D-6C0B8A11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860277-2100-397C-9821-49B2EDFF0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2A468C-875F-4445-CB92-93A92967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0284B1-DF17-BB89-334E-CD3815CB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B94957-FC2C-8A8D-9561-D86254A3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A095E-D55B-3424-6D58-6A04A90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CE2FAD-FFDB-59AD-95FB-673BBD1E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FBB7B6-BDB8-0C68-B7DA-45628019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1CD6F6-D65F-43A5-8E83-B7B84900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74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66D885-A56B-0B8B-C537-662C8EC0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62A9FC-7FA6-FECC-D4BD-DD4A9513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BA402-5960-35FE-A898-2C3623A1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67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C581E-E972-4CCC-EF47-47161139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25741-3055-87B6-956C-115D2110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00B337-1B33-624C-0E4A-5BB23AFB6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2ACF9-496B-0B21-49CE-7C566465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30CF12-914A-D04D-0AC6-A9E84E04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A7594E-72A1-F2CF-8275-BF139E78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17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87DF0-048F-0D16-4709-A8D940E7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9414BD-694D-B821-A34F-71AEFBFD2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DE5889-E568-6880-64F2-5C40A6A31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BF94E9-9729-16D2-8892-0D74303A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D26B6D-45C5-ECC3-1199-02EE20FB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08D26A-46BE-8496-502C-8496B7FD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27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5B07F-A3B3-1C9E-5EA5-D7640274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A48EA8-1667-66BD-F0CE-3F90725FB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9C5788-BB16-A6B5-9F93-B9857008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98970-53E1-C079-427C-7C526192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6CA188-641D-343D-15B2-1F0FF643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96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F97BBB-BFAE-CBF1-8528-70CC1782D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96A28C-B17B-E607-8E6D-4937AE9BA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7172C-4C47-3DA4-5914-59386D34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B242A-AE74-A0C6-0442-C69E6062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74E61-0930-1A81-60FF-6D9D0425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08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42B20-BE31-AF6C-2C9D-614456C5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6613A3-0AD0-0F08-6A40-91ACF78FC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8333F3-AE5F-A7E2-C8CA-3A7F18E62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68CFE-C60D-CE22-031D-506F1959A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6BCC1-C359-0165-F531-CA225DA17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09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D798558-6B15-7D10-CE66-4697C62B8B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3" name="PixelHeart">
            <a:extLst>
              <a:ext uri="{FF2B5EF4-FFF2-40B4-BE49-F238E27FC236}">
                <a16:creationId xmlns:a16="http://schemas.microsoft.com/office/drawing/2014/main" id="{F5C8B72C-3AD7-6926-5AEC-C05CF0C33B5A}"/>
              </a:ext>
            </a:extLst>
          </p:cNvPr>
          <p:cNvGrpSpPr/>
          <p:nvPr/>
        </p:nvGrpSpPr>
        <p:grpSpPr>
          <a:xfrm>
            <a:off x="10033000" y="1905000"/>
            <a:ext cx="1155700" cy="977900"/>
            <a:chOff x="10033000" y="1905000"/>
            <a:chExt cx="1155700" cy="9779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FA1CEAC-814B-AF91-570B-D6766736A7AB}"/>
                </a:ext>
              </a:extLst>
            </p:cNvPr>
            <p:cNvSpPr/>
            <p:nvPr/>
          </p:nvSpPr>
          <p:spPr>
            <a:xfrm>
              <a:off x="102108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F8E8D76-80CE-C3B5-1EFA-6CD447A904D0}"/>
                </a:ext>
              </a:extLst>
            </p:cNvPr>
            <p:cNvSpPr/>
            <p:nvPr/>
          </p:nvSpPr>
          <p:spPr>
            <a:xfrm>
              <a:off x="102997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1245EAC-1941-3FE8-01CE-EEF603530E59}"/>
                </a:ext>
              </a:extLst>
            </p:cNvPr>
            <p:cNvSpPr/>
            <p:nvPr/>
          </p:nvSpPr>
          <p:spPr>
            <a:xfrm>
              <a:off x="103886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8189630-6144-42B0-36A7-1C181D098375}"/>
                </a:ext>
              </a:extLst>
            </p:cNvPr>
            <p:cNvSpPr/>
            <p:nvPr/>
          </p:nvSpPr>
          <p:spPr>
            <a:xfrm>
              <a:off x="107442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6D51848-8B4A-B5CA-F151-8F1116855262}"/>
                </a:ext>
              </a:extLst>
            </p:cNvPr>
            <p:cNvSpPr/>
            <p:nvPr/>
          </p:nvSpPr>
          <p:spPr>
            <a:xfrm>
              <a:off x="108331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61E5F4B-1594-8BA9-2D71-5DFCDC779254}"/>
                </a:ext>
              </a:extLst>
            </p:cNvPr>
            <p:cNvSpPr/>
            <p:nvPr/>
          </p:nvSpPr>
          <p:spPr>
            <a:xfrm>
              <a:off x="109220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17ABEF9-5953-E769-13F2-FF8A50CFD467}"/>
                </a:ext>
              </a:extLst>
            </p:cNvPr>
            <p:cNvSpPr/>
            <p:nvPr/>
          </p:nvSpPr>
          <p:spPr>
            <a:xfrm>
              <a:off x="10121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1D3610A-31F2-1B47-FA1A-77F0A6E70DD5}"/>
                </a:ext>
              </a:extLst>
            </p:cNvPr>
            <p:cNvSpPr/>
            <p:nvPr/>
          </p:nvSpPr>
          <p:spPr>
            <a:xfrm>
              <a:off x="104775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F5216EC-6B81-6A80-90E1-27667758B0A6}"/>
                </a:ext>
              </a:extLst>
            </p:cNvPr>
            <p:cNvSpPr/>
            <p:nvPr/>
          </p:nvSpPr>
          <p:spPr>
            <a:xfrm>
              <a:off x="106553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C3D8D8D-2945-51A5-2238-627FEB5FAD56}"/>
                </a:ext>
              </a:extLst>
            </p:cNvPr>
            <p:cNvSpPr/>
            <p:nvPr/>
          </p:nvSpPr>
          <p:spPr>
            <a:xfrm>
              <a:off x="11010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82430AD-E22B-DBDA-1796-B8C685A46A1F}"/>
                </a:ext>
              </a:extLst>
            </p:cNvPr>
            <p:cNvSpPr/>
            <p:nvPr/>
          </p:nvSpPr>
          <p:spPr>
            <a:xfrm>
              <a:off x="100330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5CCEE16-614A-B946-A381-0F431296166B}"/>
                </a:ext>
              </a:extLst>
            </p:cNvPr>
            <p:cNvSpPr/>
            <p:nvPr/>
          </p:nvSpPr>
          <p:spPr>
            <a:xfrm>
              <a:off x="105664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AEABE84-F213-036B-9222-E3AFE7C3C1DA}"/>
                </a:ext>
              </a:extLst>
            </p:cNvPr>
            <p:cNvSpPr/>
            <p:nvPr/>
          </p:nvSpPr>
          <p:spPr>
            <a:xfrm>
              <a:off x="110998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C178A37-7D81-B3EF-5F22-32422BBFA4D6}"/>
                </a:ext>
              </a:extLst>
            </p:cNvPr>
            <p:cNvSpPr/>
            <p:nvPr/>
          </p:nvSpPr>
          <p:spPr>
            <a:xfrm>
              <a:off x="100330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5776D77-A9A4-12C6-265B-2BE2BC402BD9}"/>
                </a:ext>
              </a:extLst>
            </p:cNvPr>
            <p:cNvSpPr/>
            <p:nvPr/>
          </p:nvSpPr>
          <p:spPr>
            <a:xfrm>
              <a:off x="110998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9AD5CC5-4D2A-2B92-CF1D-C952643367BC}"/>
                </a:ext>
              </a:extLst>
            </p:cNvPr>
            <p:cNvSpPr/>
            <p:nvPr/>
          </p:nvSpPr>
          <p:spPr>
            <a:xfrm>
              <a:off x="100330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C586510-8E90-5384-640D-AA17F0AF32F5}"/>
                </a:ext>
              </a:extLst>
            </p:cNvPr>
            <p:cNvSpPr/>
            <p:nvPr/>
          </p:nvSpPr>
          <p:spPr>
            <a:xfrm>
              <a:off x="110998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BD3A775-A60D-3972-6324-973BF975DC07}"/>
                </a:ext>
              </a:extLst>
            </p:cNvPr>
            <p:cNvSpPr/>
            <p:nvPr/>
          </p:nvSpPr>
          <p:spPr>
            <a:xfrm>
              <a:off x="10121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A4F7047-8026-440B-AE25-068CDC3DD338}"/>
                </a:ext>
              </a:extLst>
            </p:cNvPr>
            <p:cNvSpPr/>
            <p:nvPr/>
          </p:nvSpPr>
          <p:spPr>
            <a:xfrm>
              <a:off x="11010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8627609-2196-C575-F0E6-950DF9B3F6DD}"/>
                </a:ext>
              </a:extLst>
            </p:cNvPr>
            <p:cNvSpPr/>
            <p:nvPr/>
          </p:nvSpPr>
          <p:spPr>
            <a:xfrm>
              <a:off x="102108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613F1720-BEB7-0D69-8F1A-2343373AEB02}"/>
                </a:ext>
              </a:extLst>
            </p:cNvPr>
            <p:cNvSpPr/>
            <p:nvPr/>
          </p:nvSpPr>
          <p:spPr>
            <a:xfrm>
              <a:off x="109220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B7DFA7CC-29DC-91CF-20D2-1EF249E7D6DB}"/>
                </a:ext>
              </a:extLst>
            </p:cNvPr>
            <p:cNvSpPr/>
            <p:nvPr/>
          </p:nvSpPr>
          <p:spPr>
            <a:xfrm>
              <a:off x="102997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348978D-58E8-3B0D-D3A6-E42FDD618FE6}"/>
                </a:ext>
              </a:extLst>
            </p:cNvPr>
            <p:cNvSpPr/>
            <p:nvPr/>
          </p:nvSpPr>
          <p:spPr>
            <a:xfrm>
              <a:off x="108331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620EAE5D-5139-E7D8-4C97-37F3B8612080}"/>
                </a:ext>
              </a:extLst>
            </p:cNvPr>
            <p:cNvSpPr/>
            <p:nvPr/>
          </p:nvSpPr>
          <p:spPr>
            <a:xfrm>
              <a:off x="103886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8B5957FB-B83B-C9C8-8841-1EAF6C3378B2}"/>
                </a:ext>
              </a:extLst>
            </p:cNvPr>
            <p:cNvSpPr/>
            <p:nvPr/>
          </p:nvSpPr>
          <p:spPr>
            <a:xfrm>
              <a:off x="107442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CF85DA6-1D02-21D4-CD83-78005CA40D02}"/>
                </a:ext>
              </a:extLst>
            </p:cNvPr>
            <p:cNvSpPr/>
            <p:nvPr/>
          </p:nvSpPr>
          <p:spPr>
            <a:xfrm>
              <a:off x="104775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B43689A6-AB4E-27C1-E472-0307F5FA5877}"/>
                </a:ext>
              </a:extLst>
            </p:cNvPr>
            <p:cNvSpPr/>
            <p:nvPr/>
          </p:nvSpPr>
          <p:spPr>
            <a:xfrm>
              <a:off x="106553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8E3A6CD2-EBBE-ED52-926C-59C78F7B3F0B}"/>
                </a:ext>
              </a:extLst>
            </p:cNvPr>
            <p:cNvSpPr/>
            <p:nvPr/>
          </p:nvSpPr>
          <p:spPr>
            <a:xfrm>
              <a:off x="10566400" y="2794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28B6187-F359-586D-75C2-AA32D67C8532}"/>
              </a:ext>
            </a:extLst>
          </p:cNvPr>
          <p:cNvSpPr txBox="1"/>
          <p:nvPr/>
        </p:nvSpPr>
        <p:spPr>
          <a:xfrm>
            <a:off x="609600" y="1172016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250" dirty="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72CC023-D9A1-9F97-7CFF-6F148DC343F1}"/>
              </a:ext>
            </a:extLst>
          </p:cNvPr>
          <p:cNvSpPr/>
          <p:nvPr/>
        </p:nvSpPr>
        <p:spPr>
          <a:xfrm>
            <a:off x="609600" y="1476816"/>
            <a:ext cx="3810000" cy="35560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51C4D-C2D3-218E-5D63-67C041D03B02}"/>
              </a:ext>
            </a:extLst>
          </p:cNvPr>
          <p:cNvSpPr txBox="1"/>
          <p:nvPr/>
        </p:nvSpPr>
        <p:spPr>
          <a:xfrm>
            <a:off x="812800" y="1540316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50" b="1">
                <a:solidFill>
                  <a:srgbClr val="FFFFFF"/>
                </a:solidFill>
                <a:latin typeface="Arial" panose="020B0604020202020204" pitchFamily="34" charset="0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F0412-5BC6-90F9-C73E-BF2F45C3AC0B}"/>
              </a:ext>
            </a:extLst>
          </p:cNvPr>
          <p:cNvSpPr txBox="1"/>
          <p:nvPr/>
        </p:nvSpPr>
        <p:spPr>
          <a:xfrm>
            <a:off x="609600" y="2487168"/>
            <a:ext cx="88900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ru-RU" sz="4400" dirty="0">
                <a:solidFill>
                  <a:srgbClr val="FFFFFF"/>
                </a:solidFill>
                <a:latin typeface="Arial Black" panose="020B0A04020102020204" pitchFamily="34" charset="0"/>
              </a:rPr>
              <a:t>Помощник проектировщика</a:t>
            </a:r>
          </a:p>
          <a:p>
            <a:pPr>
              <a:spcAft>
                <a:spcPts val="0"/>
              </a:spcAft>
            </a:pPr>
            <a:r>
              <a:rPr lang="ru-RU" sz="4400" dirty="0">
                <a:solidFill>
                  <a:srgbClr val="FFFFFF"/>
                </a:solidFill>
                <a:latin typeface="Arial Black" panose="020B0A04020102020204" pitchFamily="34" charset="0"/>
              </a:rPr>
              <a:t>фундамента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7EA6F9-5630-AF1F-E9DA-3DF5F5868B56}"/>
              </a:ext>
            </a:extLst>
          </p:cNvPr>
          <p:cNvSpPr txBox="1"/>
          <p:nvPr/>
        </p:nvSpPr>
        <p:spPr>
          <a:xfrm>
            <a:off x="609600" y="3891280"/>
            <a:ext cx="8128000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</a:rPr>
              <a:t>Подбор типа фундамента по грунту, зданию и условиям площадки </a:t>
            </a:r>
          </a:p>
          <a:p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</a:rPr>
              <a:t>и объясняет выбор — решение за минуты, а не часы.</a:t>
            </a:r>
          </a:p>
          <a:p>
            <a:endParaRPr lang="ru-RU" sz="15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DCE6C-E0FC-A3CF-BC0F-EDD61BBAEB1F}"/>
              </a:ext>
            </a:extLst>
          </p:cNvPr>
          <p:cNvSpPr txBox="1"/>
          <p:nvPr/>
        </p:nvSpPr>
        <p:spPr>
          <a:xfrm>
            <a:off x="609600" y="4850892"/>
            <a:ext cx="7112000" cy="1130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Иван — группировка идей, составление отчетов</a:t>
            </a:r>
          </a:p>
          <a:p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Михаил — разработка</a:t>
            </a:r>
          </a:p>
          <a:p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Илья — разработка</a:t>
            </a:r>
          </a:p>
          <a:p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Ярослав — рыночный анализ </a:t>
            </a:r>
          </a:p>
          <a:p>
            <a:r>
              <a:rPr lang="ru-RU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Кирилл — анализ </a:t>
            </a:r>
            <a:r>
              <a:rPr lang="ru-RU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макротрендов</a:t>
            </a:r>
            <a:endParaRPr lang="ru-RU" sz="1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C688F3-3A01-7D3D-4D1C-10A741D8271F}"/>
              </a:ext>
            </a:extLst>
          </p:cNvPr>
          <p:cNvCxnSpPr/>
          <p:nvPr/>
        </p:nvCxnSpPr>
        <p:spPr>
          <a:xfrm>
            <a:off x="609600" y="60706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F0B3926-B1BC-713C-B406-97E6CEE1A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2832"/>
            <a:ext cx="10045700" cy="10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02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731520" y="6591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Команда</a:t>
            </a:r>
          </a:p>
        </p:txBody>
      </p:sp>
      <p:sp>
        <p:nvSpPr>
          <p:cNvPr id="52" name="Rounded Rectangle 1">
            <a:extLst>
              <a:ext uri="{FF2B5EF4-FFF2-40B4-BE49-F238E27FC236}">
                <a16:creationId xmlns:a16="http://schemas.microsoft.com/office/drawing/2014/main" id="{D4D756AA-C837-B03F-4F45-BF44BECFBD64}"/>
              </a:ext>
            </a:extLst>
          </p:cNvPr>
          <p:cNvSpPr/>
          <p:nvPr/>
        </p:nvSpPr>
        <p:spPr>
          <a:xfrm>
            <a:off x="2820347" y="4373666"/>
            <a:ext cx="1867029" cy="816567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3" name="Rounded Rectangle 2">
            <a:extLst>
              <a:ext uri="{FF2B5EF4-FFF2-40B4-BE49-F238E27FC236}">
                <a16:creationId xmlns:a16="http://schemas.microsoft.com/office/drawing/2014/main" id="{FECB1428-3F87-359A-E284-AE69EBBE9B07}"/>
              </a:ext>
            </a:extLst>
          </p:cNvPr>
          <p:cNvSpPr/>
          <p:nvPr/>
        </p:nvSpPr>
        <p:spPr>
          <a:xfrm>
            <a:off x="5127399" y="4373666"/>
            <a:ext cx="1867029" cy="816568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4" name="Rounded Rectangle 3">
            <a:extLst>
              <a:ext uri="{FF2B5EF4-FFF2-40B4-BE49-F238E27FC236}">
                <a16:creationId xmlns:a16="http://schemas.microsoft.com/office/drawing/2014/main" id="{380C0F64-22E0-BA34-E258-14695CCDF7E7}"/>
              </a:ext>
            </a:extLst>
          </p:cNvPr>
          <p:cNvSpPr/>
          <p:nvPr/>
        </p:nvSpPr>
        <p:spPr>
          <a:xfrm>
            <a:off x="7488794" y="4373666"/>
            <a:ext cx="1867029" cy="816568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2F186326-B731-9168-F371-BF3804663E4A}"/>
              </a:ext>
            </a:extLst>
          </p:cNvPr>
          <p:cNvSpPr/>
          <p:nvPr/>
        </p:nvSpPr>
        <p:spPr>
          <a:xfrm>
            <a:off x="448531" y="4373666"/>
            <a:ext cx="1867029" cy="816566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5F034BC4-76BA-09E9-20D7-7FC497224BCB}"/>
              </a:ext>
            </a:extLst>
          </p:cNvPr>
          <p:cNvSpPr txBox="1"/>
          <p:nvPr/>
        </p:nvSpPr>
        <p:spPr>
          <a:xfrm>
            <a:off x="2911916" y="4473663"/>
            <a:ext cx="17383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Илья</a:t>
            </a:r>
            <a:endParaRPr lang="ru-RU" sz="1500" b="1" i="0" u="none" dirty="0">
              <a:solidFill>
                <a:srgbClr val="0F172A"/>
              </a:solidFill>
              <a:latin typeface="Plus Jakarta Sans"/>
            </a:endParaRPr>
          </a:p>
          <a:p>
            <a:pPr algn="ctr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Аверкин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7" name="TextBox 18">
            <a:extLst>
              <a:ext uri="{FF2B5EF4-FFF2-40B4-BE49-F238E27FC236}">
                <a16:creationId xmlns:a16="http://schemas.microsoft.com/office/drawing/2014/main" id="{6D584166-3CBB-97ED-CA95-E93ABCCF5F89}"/>
              </a:ext>
            </a:extLst>
          </p:cNvPr>
          <p:cNvSpPr txBox="1"/>
          <p:nvPr/>
        </p:nvSpPr>
        <p:spPr>
          <a:xfrm>
            <a:off x="2884673" y="4953104"/>
            <a:ext cx="173837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000" dirty="0">
                <a:solidFill>
                  <a:srgbClr val="64748B"/>
                </a:solidFill>
                <a:latin typeface="Plus Jakarta Sans"/>
              </a:rPr>
              <a:t>Фронтенд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58" name="TextBox 19">
            <a:extLst>
              <a:ext uri="{FF2B5EF4-FFF2-40B4-BE49-F238E27FC236}">
                <a16:creationId xmlns:a16="http://schemas.microsoft.com/office/drawing/2014/main" id="{2547A341-0057-E4A8-9CB2-B394F94E23D1}"/>
              </a:ext>
            </a:extLst>
          </p:cNvPr>
          <p:cNvSpPr txBox="1"/>
          <p:nvPr/>
        </p:nvSpPr>
        <p:spPr>
          <a:xfrm>
            <a:off x="5215542" y="4473662"/>
            <a:ext cx="17383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Ярослав</a:t>
            </a:r>
            <a:endParaRPr lang="ru-RU" sz="1500" b="1" i="0" u="none" dirty="0">
              <a:solidFill>
                <a:srgbClr val="0F172A"/>
              </a:solidFill>
              <a:latin typeface="Plus Jakarta Sans"/>
            </a:endParaRPr>
          </a:p>
          <a:p>
            <a:pPr algn="ctr"/>
            <a:r>
              <a:rPr lang="ru-RU" sz="1500" b="1" dirty="0" err="1">
                <a:solidFill>
                  <a:srgbClr val="0F172A"/>
                </a:solidFill>
                <a:latin typeface="Plus Jakarta Sans"/>
              </a:rPr>
              <a:t>Мещанов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9" name="TextBox 20">
            <a:extLst>
              <a:ext uri="{FF2B5EF4-FFF2-40B4-BE49-F238E27FC236}">
                <a16:creationId xmlns:a16="http://schemas.microsoft.com/office/drawing/2014/main" id="{18E4DAC3-B2BB-CDD6-97AF-BF7ED8CAC5BC}"/>
              </a:ext>
            </a:extLst>
          </p:cNvPr>
          <p:cNvSpPr txBox="1"/>
          <p:nvPr/>
        </p:nvSpPr>
        <p:spPr>
          <a:xfrm>
            <a:off x="5191725" y="4953104"/>
            <a:ext cx="173837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000" dirty="0">
                <a:solidFill>
                  <a:srgbClr val="64748B"/>
                </a:solidFill>
                <a:latin typeface="Plus Jakarta Sans"/>
              </a:rPr>
              <a:t>А</a:t>
            </a:r>
            <a:r>
              <a:rPr sz="1000" b="0" i="0" u="none" dirty="0" err="1">
                <a:solidFill>
                  <a:srgbClr val="64748B"/>
                </a:solidFill>
                <a:latin typeface="Plus Jakarta Sans"/>
              </a:rPr>
              <a:t>нализ</a:t>
            </a:r>
            <a:endParaRPr sz="10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5492D0FD-ADF4-6555-8BE1-1927DF97AE59}"/>
              </a:ext>
            </a:extLst>
          </p:cNvPr>
          <p:cNvSpPr txBox="1"/>
          <p:nvPr/>
        </p:nvSpPr>
        <p:spPr>
          <a:xfrm>
            <a:off x="540100" y="4473662"/>
            <a:ext cx="17383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Михаил </a:t>
            </a:r>
            <a:endParaRPr lang="ru-RU" sz="1500" b="1" i="0" u="none" dirty="0">
              <a:solidFill>
                <a:srgbClr val="0F172A"/>
              </a:solidFill>
              <a:latin typeface="Plus Jakarta Sans"/>
            </a:endParaRPr>
          </a:p>
          <a:p>
            <a:pPr algn="ctr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Богомолов</a:t>
            </a:r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0A2F35CE-A44C-382B-C9AC-C799AD41DB6B}"/>
              </a:ext>
            </a:extLst>
          </p:cNvPr>
          <p:cNvSpPr txBox="1"/>
          <p:nvPr/>
        </p:nvSpPr>
        <p:spPr>
          <a:xfrm>
            <a:off x="540100" y="4953104"/>
            <a:ext cx="173837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000" dirty="0">
                <a:solidFill>
                  <a:srgbClr val="64748B"/>
                </a:solidFill>
                <a:latin typeface="Plus Jakarta Sans"/>
              </a:rPr>
              <a:t>Б</a:t>
            </a:r>
            <a:r>
              <a:rPr sz="1000" b="0" i="0" u="none" dirty="0" err="1">
                <a:solidFill>
                  <a:srgbClr val="64748B"/>
                </a:solidFill>
                <a:latin typeface="Plus Jakarta Sans"/>
              </a:rPr>
              <a:t>экенд</a:t>
            </a:r>
            <a:endParaRPr sz="10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66" name="TextBox 19">
            <a:extLst>
              <a:ext uri="{FF2B5EF4-FFF2-40B4-BE49-F238E27FC236}">
                <a16:creationId xmlns:a16="http://schemas.microsoft.com/office/drawing/2014/main" id="{2547A341-0057-E4A8-9CB2-B394F94E23D1}"/>
              </a:ext>
            </a:extLst>
          </p:cNvPr>
          <p:cNvSpPr txBox="1"/>
          <p:nvPr/>
        </p:nvSpPr>
        <p:spPr>
          <a:xfrm>
            <a:off x="7582655" y="4473662"/>
            <a:ext cx="17383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Кирилл</a:t>
            </a:r>
            <a:endParaRPr lang="ru-RU" sz="1500" b="1" i="0" u="none" dirty="0">
              <a:solidFill>
                <a:srgbClr val="0F172A"/>
              </a:solidFill>
              <a:latin typeface="Plus Jakarta Sans"/>
            </a:endParaRPr>
          </a:p>
          <a:p>
            <a:pPr algn="ctr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Кудряшов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7" name="TextBox 20">
            <a:extLst>
              <a:ext uri="{FF2B5EF4-FFF2-40B4-BE49-F238E27FC236}">
                <a16:creationId xmlns:a16="http://schemas.microsoft.com/office/drawing/2014/main" id="{18E4DAC3-B2BB-CDD6-97AF-BF7ED8CAC5BC}"/>
              </a:ext>
            </a:extLst>
          </p:cNvPr>
          <p:cNvSpPr txBox="1"/>
          <p:nvPr/>
        </p:nvSpPr>
        <p:spPr>
          <a:xfrm>
            <a:off x="7553120" y="4953104"/>
            <a:ext cx="173837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000" b="0" i="0" u="none" dirty="0">
                <a:solidFill>
                  <a:srgbClr val="64748B"/>
                </a:solidFill>
                <a:latin typeface="Plus Jakarta Sans"/>
              </a:rPr>
              <a:t>Анализ</a:t>
            </a:r>
            <a:endParaRPr sz="10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F867E0BA-D36D-FDFA-8A0D-7EA43A192438}"/>
              </a:ext>
            </a:extLst>
          </p:cNvPr>
          <p:cNvSpPr/>
          <p:nvPr/>
        </p:nvSpPr>
        <p:spPr>
          <a:xfrm>
            <a:off x="9823525" y="4373666"/>
            <a:ext cx="1867029" cy="816569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4AFB58D1-A581-A028-590D-2489C52D0850}"/>
              </a:ext>
            </a:extLst>
          </p:cNvPr>
          <p:cNvSpPr txBox="1"/>
          <p:nvPr/>
        </p:nvSpPr>
        <p:spPr>
          <a:xfrm>
            <a:off x="9917386" y="4473662"/>
            <a:ext cx="17383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Иван</a:t>
            </a:r>
          </a:p>
          <a:p>
            <a:pPr algn="ctr"/>
            <a:r>
              <a:rPr lang="ru-RU" sz="1500" b="1" dirty="0" err="1">
                <a:solidFill>
                  <a:srgbClr val="0F172A"/>
                </a:solidFill>
                <a:latin typeface="Plus Jakarta Sans"/>
              </a:rPr>
              <a:t>Тихненко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AC142A5B-F58A-E7EF-83D5-48A5F33319E3}"/>
              </a:ext>
            </a:extLst>
          </p:cNvPr>
          <p:cNvSpPr txBox="1"/>
          <p:nvPr/>
        </p:nvSpPr>
        <p:spPr>
          <a:xfrm>
            <a:off x="9887851" y="4953104"/>
            <a:ext cx="173837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000" b="0" i="0" u="none" dirty="0">
                <a:solidFill>
                  <a:srgbClr val="64748B"/>
                </a:solidFill>
                <a:latin typeface="Plus Jakarta Sans"/>
              </a:rPr>
              <a:t>Отчетность</a:t>
            </a:r>
            <a:endParaRPr sz="1000" b="0" i="0" u="none" dirty="0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D0608EED-3792-D8C5-5DD1-34FC524C4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151" y="1913381"/>
            <a:ext cx="2251291" cy="2251291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37DF390-8C3C-07AF-A3AD-A1771BC4E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20" y="1877295"/>
            <a:ext cx="2251291" cy="2251291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7DCEA78D-40A2-0F11-DA67-5200BC6D8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882" y="1913381"/>
            <a:ext cx="2251291" cy="2251291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7DCABCA3-2A95-5573-D598-55E4C19C3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613" y="1913381"/>
            <a:ext cx="2251291" cy="2251291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8A552A06-8ABA-367A-8C4C-DD552F50C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344" y="1913380"/>
            <a:ext cx="2251291" cy="225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7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Проблема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/>
          <p:nvPr/>
        </p:nvSpPr>
        <p:spPr>
          <a:xfrm>
            <a:off x="609600" y="132080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2355CD-76F6-2B0B-F764-A753395F9BBF}"/>
              </a:ext>
            </a:extLst>
          </p:cNvPr>
          <p:cNvSpPr txBox="1"/>
          <p:nvPr/>
        </p:nvSpPr>
        <p:spPr>
          <a:xfrm>
            <a:off x="914400" y="14986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ГЛАВНАЯ ПРОБЛЕМА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0AB8A-4721-6C80-8320-2DAF3DF2FB18}"/>
              </a:ext>
            </a:extLst>
          </p:cNvPr>
          <p:cNvSpPr txBox="1"/>
          <p:nvPr/>
        </p:nvSpPr>
        <p:spPr>
          <a:xfrm>
            <a:off x="914400" y="1727200"/>
            <a:ext cx="10363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 b="1">
                <a:solidFill>
                  <a:srgbClr val="FFFFFF"/>
                </a:solidFill>
                <a:latin typeface="Arial" panose="020B0604020202020204" pitchFamily="34" charset="0"/>
              </a:rPr>
              <a:t>Тип фундамента подбирают вручную — типовые ошибки возвращают проект на 3 и более итерации проверки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09600" y="2794000"/>
            <a:ext cx="3521710" cy="308569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6360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CE03E8-EF9F-50BD-2D87-AC6E79E36716}"/>
              </a:ext>
            </a:extLst>
          </p:cNvPr>
          <p:cNvSpPr txBox="1"/>
          <p:nvPr/>
        </p:nvSpPr>
        <p:spPr>
          <a:xfrm>
            <a:off x="86360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КТО?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4DCEA2-6731-B78E-231A-47649E58B130}"/>
              </a:ext>
            </a:extLst>
          </p:cNvPr>
          <p:cNvSpPr txBox="1"/>
          <p:nvPr/>
        </p:nvSpPr>
        <p:spPr>
          <a:xfrm>
            <a:off x="86360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 dirty="0">
                <a:solidFill>
                  <a:srgbClr val="0F1B3D"/>
                </a:solidFill>
                <a:latin typeface="Arial" panose="020B0604020202020204" pitchFamily="34" charset="0"/>
              </a:rPr>
              <a:t>Проектировщики и конструкторы проектной компании, которые прорабатывают фундаменты зданий и сооружений при разработке ПСД.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D97D51E-E4E2-AF70-D55A-9FE318658D4A}"/>
              </a:ext>
            </a:extLst>
          </p:cNvPr>
          <p:cNvSpPr/>
          <p:nvPr/>
        </p:nvSpPr>
        <p:spPr>
          <a:xfrm>
            <a:off x="4334510" y="2794000"/>
            <a:ext cx="3521710" cy="308569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AC1118F-0CDC-DD46-94EA-A99AE1146161}"/>
              </a:ext>
            </a:extLst>
          </p:cNvPr>
          <p:cNvSpPr/>
          <p:nvPr/>
        </p:nvSpPr>
        <p:spPr>
          <a:xfrm>
            <a:off x="458851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229335-D9FD-65E0-03BA-FE7DADF9D87F}"/>
              </a:ext>
            </a:extLst>
          </p:cNvPr>
          <p:cNvSpPr txBox="1"/>
          <p:nvPr/>
        </p:nvSpPr>
        <p:spPr>
          <a:xfrm>
            <a:off x="458851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ЧТО ПРОИСХОДИТ?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8510" y="3886200"/>
            <a:ext cx="3013710" cy="182634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ru-RU" sz="1600" dirty="0">
                <a:solidFill>
                  <a:srgbClr val="0F1B3D"/>
                </a:solidFill>
                <a:latin typeface="Arial" panose="020B0604020202020204" pitchFamily="34" charset="0"/>
              </a:rPr>
              <a:t>Неверный подбор типа фундамента по характеристикам грунта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ru-RU" sz="1600" dirty="0">
                <a:solidFill>
                  <a:srgbClr val="0F1B3D"/>
                </a:solidFill>
                <a:latin typeface="Arial" panose="020B0604020202020204" pitchFamily="34" charset="0"/>
              </a:rPr>
              <a:t>Неточный расчёт стоимости и трудозатрат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ru-RU" sz="1600" dirty="0">
                <a:solidFill>
                  <a:srgbClr val="0F1B3D"/>
                </a:solidFill>
                <a:latin typeface="Arial" panose="020B0604020202020204" pitchFamily="34" charset="0"/>
              </a:rPr>
              <a:t>Нет учёта региональных цен на материалы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2184B6B5-01CE-EBC9-F489-ADC3ABDB42ED}"/>
              </a:ext>
            </a:extLst>
          </p:cNvPr>
          <p:cNvSpPr/>
          <p:nvPr/>
        </p:nvSpPr>
        <p:spPr>
          <a:xfrm>
            <a:off x="8059420" y="2794000"/>
            <a:ext cx="3521710" cy="308569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D0B530A-1A02-2574-E468-35B6C7E93FB3}"/>
              </a:ext>
            </a:extLst>
          </p:cNvPr>
          <p:cNvSpPr/>
          <p:nvPr/>
        </p:nvSpPr>
        <p:spPr>
          <a:xfrm>
            <a:off x="831342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C76D2-87C6-94CA-DD3C-C594F3B9D8D3}"/>
              </a:ext>
            </a:extLst>
          </p:cNvPr>
          <p:cNvSpPr txBox="1"/>
          <p:nvPr/>
        </p:nvSpPr>
        <p:spPr>
          <a:xfrm>
            <a:off x="831342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ПОЧЕМУ ЭТО ВАЖНО?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03677-9668-42BA-013B-8EFB8A91822B}"/>
              </a:ext>
            </a:extLst>
          </p:cNvPr>
          <p:cNvSpPr txBox="1"/>
          <p:nvPr/>
        </p:nvSpPr>
        <p:spPr>
          <a:xfrm>
            <a:off x="8313420" y="3886200"/>
            <a:ext cx="3013710" cy="182634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ru-RU" sz="1600" dirty="0">
                <a:solidFill>
                  <a:srgbClr val="0F1B3D"/>
                </a:solidFill>
                <a:latin typeface="Arial" panose="020B0604020202020204" pitchFamily="34" charset="0"/>
              </a:rPr>
              <a:t>Каждая итерация удлиняет согласование и добавляет трудозатраты инженеров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ru-RU" sz="1600" dirty="0">
                <a:solidFill>
                  <a:srgbClr val="0F1B3D"/>
                </a:solidFill>
                <a:latin typeface="Arial" panose="020B0604020202020204" pitchFamily="34" charset="0"/>
              </a:rPr>
              <a:t>Растёт риск превышения бюджета: стройматериалы в 2025 году подорожали на 8–15%</a:t>
            </a:r>
          </a:p>
        </p:txBody>
      </p:sp>
    </p:spTree>
    <p:extLst>
      <p:ext uri="{BB962C8B-B14F-4D97-AF65-F5344CB8AC3E}">
        <p14:creationId xmlns:p14="http://schemas.microsoft.com/office/powerpoint/2010/main" val="82339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7E102-3B36-75D6-C951-5BD09A21FF92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6818B-48E9-D250-EB7F-8E42B245248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04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F56B247D-FF20-5A24-8CB1-550DA9BC002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0361991E-6A1F-D7A4-F342-F73157C707E7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9E4CE54-FFF6-A969-E9B7-9B4191403C95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E64657D-D2A1-AC5C-802A-698B9F6A7256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4CF97B05-DAC9-B61C-B394-D46CAB720992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8F21BAF-0531-CC27-610E-A88E52B080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EF228FD-634B-A71A-6C7F-040F622A9EB1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2FF8834-AC51-783B-F4EE-4B7ED1685F88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75657C1A-A19C-8442-2DF2-C0459A665C62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9DD9CD7-FA6E-9B7D-B5FB-6F4440A3B69B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D9FCF398-0DA1-06A1-99C6-A118DBC767EF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2042711D-C84D-271D-0782-0139C41E5BD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B47B9B6-8D31-2105-9375-AF83D4BDDE67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876DE32-1E85-27A7-8432-1E022F1AC276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6C9D4CC-EB52-68CA-6027-D9BA6C659291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A3EA97F5-9416-1D12-093A-E48367F45EE3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C3CD0466-70EE-7302-F3A8-A98CCEB0C227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96D4264-7F21-BE89-589F-2CCF2AD9F9E4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1077BB96-9250-7E3A-60D3-D5469B8CED58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11507E5-1367-063F-3FB7-579C36B01586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38DA347-9E40-78BF-3146-EC62CD51A09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1742702-C865-2982-9428-433CD15D886C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59AA0890-1B5F-5A6F-2A35-47F9C431F15F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2E6DB67-44A6-88BB-218C-BDCCE0B584E5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92E34B9-24A9-424F-FB8D-A398D0B158D2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25126ED-7BE8-6B7F-7D71-7DC635CBDDFB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A083EEE3-30A0-B936-95FC-0E80BC47DBBC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F1D36EB8-6D8B-59C0-D2BE-912333CB3546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1514C11-7344-35B2-746D-5912F3751BBF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04BDA61-6CA5-F8A3-E4B4-3D04231048ED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Пользователь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6F126BF-6094-BB27-B39D-44322CB91499}"/>
              </a:ext>
            </a:extLst>
          </p:cNvPr>
          <p:cNvSpPr/>
          <p:nvPr/>
        </p:nvSpPr>
        <p:spPr>
          <a:xfrm>
            <a:off x="609600" y="1320800"/>
            <a:ext cx="3810000" cy="44450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ABE81A78-B8F3-C59C-3E6C-E0A1AA1CD8DE}"/>
              </a:ext>
            </a:extLst>
          </p:cNvPr>
          <p:cNvSpPr/>
          <p:nvPr/>
        </p:nvSpPr>
        <p:spPr>
          <a:xfrm>
            <a:off x="1752600" y="1625600"/>
            <a:ext cx="1524000" cy="152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4" name="PixelHeart">
            <a:extLst>
              <a:ext uri="{FF2B5EF4-FFF2-40B4-BE49-F238E27FC236}">
                <a16:creationId xmlns:a16="http://schemas.microsoft.com/office/drawing/2014/main" id="{F5FDC6D4-86B7-C691-C6D0-743D000AA0A5}"/>
              </a:ext>
            </a:extLst>
          </p:cNvPr>
          <p:cNvGrpSpPr/>
          <p:nvPr/>
        </p:nvGrpSpPr>
        <p:grpSpPr>
          <a:xfrm>
            <a:off x="2165350" y="2108200"/>
            <a:ext cx="742950" cy="628650"/>
            <a:chOff x="2165350" y="2108200"/>
            <a:chExt cx="742950" cy="628650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7397505D-CB13-D618-E2CC-A5E44E8ACD9F}"/>
                </a:ext>
              </a:extLst>
            </p:cNvPr>
            <p:cNvSpPr/>
            <p:nvPr/>
          </p:nvSpPr>
          <p:spPr>
            <a:xfrm>
              <a:off x="22796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5B903745-8678-B1FA-991C-4EED7CE2F1CC}"/>
                </a:ext>
              </a:extLst>
            </p:cNvPr>
            <p:cNvSpPr/>
            <p:nvPr/>
          </p:nvSpPr>
          <p:spPr>
            <a:xfrm>
              <a:off x="233680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0931ACBA-1FA4-91C6-1523-1CA9AFD5DBE9}"/>
                </a:ext>
              </a:extLst>
            </p:cNvPr>
            <p:cNvSpPr/>
            <p:nvPr/>
          </p:nvSpPr>
          <p:spPr>
            <a:xfrm>
              <a:off x="23939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53FAE1B5-7620-4541-8554-84A3B886324C}"/>
                </a:ext>
              </a:extLst>
            </p:cNvPr>
            <p:cNvSpPr/>
            <p:nvPr/>
          </p:nvSpPr>
          <p:spPr>
            <a:xfrm>
              <a:off x="26225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BA4FA758-43BD-97F5-81D9-5ACD06EE9149}"/>
                </a:ext>
              </a:extLst>
            </p:cNvPr>
            <p:cNvSpPr/>
            <p:nvPr/>
          </p:nvSpPr>
          <p:spPr>
            <a:xfrm>
              <a:off x="267970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3C8F0FAA-68BF-AE4E-9D2A-25281F8B9BDE}"/>
                </a:ext>
              </a:extLst>
            </p:cNvPr>
            <p:cNvSpPr/>
            <p:nvPr/>
          </p:nvSpPr>
          <p:spPr>
            <a:xfrm>
              <a:off x="27368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7E42AF72-B216-24BF-7EDC-45B075161D46}"/>
                </a:ext>
              </a:extLst>
            </p:cNvPr>
            <p:cNvSpPr/>
            <p:nvPr/>
          </p:nvSpPr>
          <p:spPr>
            <a:xfrm>
              <a:off x="22225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98A379BB-74BD-DFE4-B8F3-4755CB6162E5}"/>
                </a:ext>
              </a:extLst>
            </p:cNvPr>
            <p:cNvSpPr/>
            <p:nvPr/>
          </p:nvSpPr>
          <p:spPr>
            <a:xfrm>
              <a:off x="24511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0F0BFF4D-3DE2-3E15-C514-BE1128F43344}"/>
                </a:ext>
              </a:extLst>
            </p:cNvPr>
            <p:cNvSpPr/>
            <p:nvPr/>
          </p:nvSpPr>
          <p:spPr>
            <a:xfrm>
              <a:off x="25654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BC64F689-E0D2-99F5-260E-253A11BA25D6}"/>
                </a:ext>
              </a:extLst>
            </p:cNvPr>
            <p:cNvSpPr/>
            <p:nvPr/>
          </p:nvSpPr>
          <p:spPr>
            <a:xfrm>
              <a:off x="27940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AB42AAD6-4C31-21CB-7D51-710721A62ACD}"/>
                </a:ext>
              </a:extLst>
            </p:cNvPr>
            <p:cNvSpPr/>
            <p:nvPr/>
          </p:nvSpPr>
          <p:spPr>
            <a:xfrm>
              <a:off x="2165350" y="22225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id="{3430823A-6D47-1BEC-F5C4-A9D5D94E7566}"/>
                </a:ext>
              </a:extLst>
            </p:cNvPr>
            <p:cNvSpPr/>
            <p:nvPr/>
          </p:nvSpPr>
          <p:spPr>
            <a:xfrm>
              <a:off x="2508250" y="22225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35FC7404-B560-26DA-8F1A-25B02BD86B03}"/>
                </a:ext>
              </a:extLst>
            </p:cNvPr>
            <p:cNvSpPr/>
            <p:nvPr/>
          </p:nvSpPr>
          <p:spPr>
            <a:xfrm>
              <a:off x="2851150" y="22225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DB597668-23A0-7C64-1959-21203B4DEA09}"/>
                </a:ext>
              </a:extLst>
            </p:cNvPr>
            <p:cNvSpPr/>
            <p:nvPr/>
          </p:nvSpPr>
          <p:spPr>
            <a:xfrm>
              <a:off x="2165350" y="22796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E51C2EFC-0CAD-F754-F875-1991C1D9AB1C}"/>
                </a:ext>
              </a:extLst>
            </p:cNvPr>
            <p:cNvSpPr/>
            <p:nvPr/>
          </p:nvSpPr>
          <p:spPr>
            <a:xfrm>
              <a:off x="2851150" y="22796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id="{1392214E-7B20-49AC-FFAF-30CB637116BA}"/>
                </a:ext>
              </a:extLst>
            </p:cNvPr>
            <p:cNvSpPr/>
            <p:nvPr/>
          </p:nvSpPr>
          <p:spPr>
            <a:xfrm>
              <a:off x="2165350" y="23368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95860716-4722-E4B5-F04F-50E9C9B68A29}"/>
                </a:ext>
              </a:extLst>
            </p:cNvPr>
            <p:cNvSpPr/>
            <p:nvPr/>
          </p:nvSpPr>
          <p:spPr>
            <a:xfrm>
              <a:off x="2851150" y="23368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id="{F18F35DB-0C5D-B4B1-7F35-AEB6A2BA461A}"/>
                </a:ext>
              </a:extLst>
            </p:cNvPr>
            <p:cNvSpPr/>
            <p:nvPr/>
          </p:nvSpPr>
          <p:spPr>
            <a:xfrm>
              <a:off x="2222500" y="23939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 53">
              <a:extLst>
                <a:ext uri="{FF2B5EF4-FFF2-40B4-BE49-F238E27FC236}">
                  <a16:creationId xmlns:a16="http://schemas.microsoft.com/office/drawing/2014/main" id="{663673EA-DE7B-9D26-5E7B-8EBE66DD6845}"/>
                </a:ext>
              </a:extLst>
            </p:cNvPr>
            <p:cNvSpPr/>
            <p:nvPr/>
          </p:nvSpPr>
          <p:spPr>
            <a:xfrm>
              <a:off x="2794000" y="23939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 54">
              <a:extLst>
                <a:ext uri="{FF2B5EF4-FFF2-40B4-BE49-F238E27FC236}">
                  <a16:creationId xmlns:a16="http://schemas.microsoft.com/office/drawing/2014/main" id="{846C2CF8-1EA3-35F3-6DB6-61AB50B680C9}"/>
                </a:ext>
              </a:extLst>
            </p:cNvPr>
            <p:cNvSpPr/>
            <p:nvPr/>
          </p:nvSpPr>
          <p:spPr>
            <a:xfrm>
              <a:off x="2279650" y="24511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Прямоугольник 55">
              <a:extLst>
                <a:ext uri="{FF2B5EF4-FFF2-40B4-BE49-F238E27FC236}">
                  <a16:creationId xmlns:a16="http://schemas.microsoft.com/office/drawing/2014/main" id="{93E7C103-C924-0952-5DEE-3AE2D6A7EF52}"/>
                </a:ext>
              </a:extLst>
            </p:cNvPr>
            <p:cNvSpPr/>
            <p:nvPr/>
          </p:nvSpPr>
          <p:spPr>
            <a:xfrm>
              <a:off x="2736850" y="24511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 56">
              <a:extLst>
                <a:ext uri="{FF2B5EF4-FFF2-40B4-BE49-F238E27FC236}">
                  <a16:creationId xmlns:a16="http://schemas.microsoft.com/office/drawing/2014/main" id="{4D3CA6DA-EB83-B44F-5C4A-E96021E03133}"/>
                </a:ext>
              </a:extLst>
            </p:cNvPr>
            <p:cNvSpPr/>
            <p:nvPr/>
          </p:nvSpPr>
          <p:spPr>
            <a:xfrm>
              <a:off x="2336800" y="25082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 57">
              <a:extLst>
                <a:ext uri="{FF2B5EF4-FFF2-40B4-BE49-F238E27FC236}">
                  <a16:creationId xmlns:a16="http://schemas.microsoft.com/office/drawing/2014/main" id="{27BC3720-9408-DC5B-DA54-8141C8D41575}"/>
                </a:ext>
              </a:extLst>
            </p:cNvPr>
            <p:cNvSpPr/>
            <p:nvPr/>
          </p:nvSpPr>
          <p:spPr>
            <a:xfrm>
              <a:off x="2679700" y="25082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Прямоугольник 58">
              <a:extLst>
                <a:ext uri="{FF2B5EF4-FFF2-40B4-BE49-F238E27FC236}">
                  <a16:creationId xmlns:a16="http://schemas.microsoft.com/office/drawing/2014/main" id="{A6934A12-1494-446E-B9B7-4E06AC6F1A35}"/>
                </a:ext>
              </a:extLst>
            </p:cNvPr>
            <p:cNvSpPr/>
            <p:nvPr/>
          </p:nvSpPr>
          <p:spPr>
            <a:xfrm>
              <a:off x="2393950" y="25654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Прямоугольник 59">
              <a:extLst>
                <a:ext uri="{FF2B5EF4-FFF2-40B4-BE49-F238E27FC236}">
                  <a16:creationId xmlns:a16="http://schemas.microsoft.com/office/drawing/2014/main" id="{CADC189E-D130-2E90-4521-99DA086EC403}"/>
                </a:ext>
              </a:extLst>
            </p:cNvPr>
            <p:cNvSpPr/>
            <p:nvPr/>
          </p:nvSpPr>
          <p:spPr>
            <a:xfrm>
              <a:off x="2622550" y="25654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Прямоугольник 60">
              <a:extLst>
                <a:ext uri="{FF2B5EF4-FFF2-40B4-BE49-F238E27FC236}">
                  <a16:creationId xmlns:a16="http://schemas.microsoft.com/office/drawing/2014/main" id="{339A83C9-58AD-9D59-A10C-E8E11DF9CE7C}"/>
                </a:ext>
              </a:extLst>
            </p:cNvPr>
            <p:cNvSpPr/>
            <p:nvPr/>
          </p:nvSpPr>
          <p:spPr>
            <a:xfrm>
              <a:off x="2451100" y="26225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Прямоугольник 61">
              <a:extLst>
                <a:ext uri="{FF2B5EF4-FFF2-40B4-BE49-F238E27FC236}">
                  <a16:creationId xmlns:a16="http://schemas.microsoft.com/office/drawing/2014/main" id="{ACC00643-7925-632B-CE94-57C77BE01CCB}"/>
                </a:ext>
              </a:extLst>
            </p:cNvPr>
            <p:cNvSpPr/>
            <p:nvPr/>
          </p:nvSpPr>
          <p:spPr>
            <a:xfrm>
              <a:off x="2565400" y="26225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Прямоугольник 62">
              <a:extLst>
                <a:ext uri="{FF2B5EF4-FFF2-40B4-BE49-F238E27FC236}">
                  <a16:creationId xmlns:a16="http://schemas.microsoft.com/office/drawing/2014/main" id="{61507F75-FAA3-4E1F-9E6F-F6FDE96EA929}"/>
                </a:ext>
              </a:extLst>
            </p:cNvPr>
            <p:cNvSpPr/>
            <p:nvPr/>
          </p:nvSpPr>
          <p:spPr>
            <a:xfrm>
              <a:off x="2508250" y="26797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225301E-C7AD-5393-65A8-95031F85168F}"/>
              </a:ext>
            </a:extLst>
          </p:cNvPr>
          <p:cNvSpPr txBox="1"/>
          <p:nvPr/>
        </p:nvSpPr>
        <p:spPr>
          <a:xfrm>
            <a:off x="863600" y="3378200"/>
            <a:ext cx="330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900" b="1" spc="150">
                <a:solidFill>
                  <a:srgbClr val="22A889"/>
                </a:solidFill>
                <a:latin typeface="Arial" panose="020B0604020202020204" pitchFamily="34" charset="0"/>
              </a:rPr>
              <a:t>ПОРТРЕТ ПОЛЬЗОВАТЕЛЯ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D70F14-28EE-F39B-E76B-840928F89DEE}"/>
              </a:ext>
            </a:extLst>
          </p:cNvPr>
          <p:cNvSpPr txBox="1"/>
          <p:nvPr/>
        </p:nvSpPr>
        <p:spPr>
          <a:xfrm>
            <a:off x="863600" y="3657600"/>
            <a:ext cx="3302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500" b="1">
                <a:solidFill>
                  <a:srgbClr val="0F1B3D"/>
                </a:solidFill>
                <a:latin typeface="Arial" panose="020B0604020202020204" pitchFamily="34" charset="0"/>
              </a:rPr>
              <a:t>Инженер-проектировщик раздела фундаментов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2FB9B3-03D1-4631-B973-904400BC1A19}"/>
              </a:ext>
            </a:extLst>
          </p:cNvPr>
          <p:cNvSpPr txBox="1"/>
          <p:nvPr/>
        </p:nvSpPr>
        <p:spPr>
          <a:xfrm>
            <a:off x="863600" y="4419600"/>
            <a:ext cx="3302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100">
                <a:solidFill>
                  <a:srgbClr val="6B7892"/>
                </a:solidFill>
                <a:latin typeface="Arial" panose="020B0604020202020204" pitchFamily="34" charset="0"/>
              </a:rPr>
              <a:t>Конструктор в проектной компании · выбирает тип фундамента для ПСД · ценит корректный расчёт, соответствие нормам и меньше ручной работы</a:t>
            </a:r>
          </a:p>
        </p:txBody>
      </p:sp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5164D08C-C9BD-405D-04D9-2F8AD717F7CD}"/>
              </a:ext>
            </a:extLst>
          </p:cNvPr>
          <p:cNvSpPr/>
          <p:nvPr/>
        </p:nvSpPr>
        <p:spPr>
          <a:xfrm>
            <a:off x="4673600" y="13208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39F97884-5992-3058-A9A8-ACAEAE7F9B83}"/>
              </a:ext>
            </a:extLst>
          </p:cNvPr>
          <p:cNvSpPr/>
          <p:nvPr/>
        </p:nvSpPr>
        <p:spPr>
          <a:xfrm>
            <a:off x="4927600" y="16002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9C28B8-72A4-43CA-CB70-94CAD8003009}"/>
              </a:ext>
            </a:extLst>
          </p:cNvPr>
          <p:cNvSpPr txBox="1"/>
          <p:nvPr/>
        </p:nvSpPr>
        <p:spPr>
          <a:xfrm>
            <a:off x="5588000" y="16002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ОСНОВНАЯ ЦА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927D53-7B8E-E6F0-FAFA-96F8A7D79AC8}"/>
              </a:ext>
            </a:extLst>
          </p:cNvPr>
          <p:cNvSpPr txBox="1"/>
          <p:nvPr/>
        </p:nvSpPr>
        <p:spPr>
          <a:xfrm>
            <a:off x="5588000" y="1879600"/>
            <a:ext cx="571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>
                <a:solidFill>
                  <a:srgbClr val="0F1B3D"/>
                </a:solidFill>
                <a:latin typeface="Arial" panose="020B0604020202020204" pitchFamily="34" charset="0"/>
              </a:rPr>
              <a:t>Проектные компании, которые разрабатывают ПСД на строительство зданий и сооружений</a:t>
            </a:r>
          </a:p>
        </p:txBody>
      </p:sp>
      <p:sp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2B0D194A-0596-4463-6964-F6E559486180}"/>
              </a:ext>
            </a:extLst>
          </p:cNvPr>
          <p:cNvSpPr/>
          <p:nvPr/>
        </p:nvSpPr>
        <p:spPr>
          <a:xfrm>
            <a:off x="4673600" y="28702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E4800A70-2D8F-AEEA-B082-9F7B800E5DD5}"/>
              </a:ext>
            </a:extLst>
          </p:cNvPr>
          <p:cNvSpPr/>
          <p:nvPr/>
        </p:nvSpPr>
        <p:spPr>
          <a:xfrm>
            <a:off x="4927600" y="31496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2EB3D7-365D-2EF5-7E14-FDD75CBEE45D}"/>
              </a:ext>
            </a:extLst>
          </p:cNvPr>
          <p:cNvSpPr txBox="1"/>
          <p:nvPr/>
        </p:nvSpPr>
        <p:spPr>
          <a:xfrm>
            <a:off x="5588000" y="31496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СЕГМЕНТ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265B11-1D29-F3EC-F456-BFD67411C418}"/>
              </a:ext>
            </a:extLst>
          </p:cNvPr>
          <p:cNvSpPr txBox="1"/>
          <p:nvPr/>
        </p:nvSpPr>
        <p:spPr>
          <a:xfrm>
            <a:off x="5588000" y="3429000"/>
            <a:ext cx="571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>
                <a:solidFill>
                  <a:srgbClr val="0F1B3D"/>
                </a:solidFill>
                <a:latin typeface="Arial" panose="020B0604020202020204" pitchFamily="34" charset="0"/>
              </a:rPr>
              <a:t>Проектировщики фундаментов: САПР считают выбранный тип, но выбор между типами остаётся ручным этапом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1CAC03A0-214E-5FC7-FB67-D90A367F249C}"/>
              </a:ext>
            </a:extLst>
          </p:cNvPr>
          <p:cNvSpPr/>
          <p:nvPr/>
        </p:nvSpPr>
        <p:spPr>
          <a:xfrm>
            <a:off x="4673600" y="44196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E9E81BB4-8AF8-2BDC-EE64-DEA8DE16609A}"/>
              </a:ext>
            </a:extLst>
          </p:cNvPr>
          <p:cNvSpPr/>
          <p:nvPr/>
        </p:nvSpPr>
        <p:spPr>
          <a:xfrm>
            <a:off x="4927600" y="4699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22496D-F8C5-CF43-D46E-90DCB962B376}"/>
              </a:ext>
            </a:extLst>
          </p:cNvPr>
          <p:cNvSpPr txBox="1"/>
          <p:nvPr/>
        </p:nvSpPr>
        <p:spPr>
          <a:xfrm>
            <a:off x="5588000" y="46990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КОНТЕКСТ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97DB5A-3005-DADB-8D1F-99078083C46F}"/>
              </a:ext>
            </a:extLst>
          </p:cNvPr>
          <p:cNvSpPr txBox="1"/>
          <p:nvPr/>
        </p:nvSpPr>
        <p:spPr>
          <a:xfrm>
            <a:off x="5588000" y="4978400"/>
            <a:ext cx="571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>
                <a:solidFill>
                  <a:srgbClr val="0F1B3D"/>
                </a:solidFill>
                <a:latin typeface="Arial" panose="020B0604020202020204" pitchFamily="34" charset="0"/>
              </a:rPr>
              <a:t>На этапе конструктивных решений: геология, нагрузки и условия сводятся вручную, варианты сравниваются по опыту</a:t>
            </a:r>
          </a:p>
        </p:txBody>
      </p:sp>
    </p:spTree>
    <p:extLst>
      <p:ext uri="{BB962C8B-B14F-4D97-AF65-F5344CB8AC3E}">
        <p14:creationId xmlns:p14="http://schemas.microsoft.com/office/powerpoint/2010/main" val="402772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644D0-3DBB-1D34-FFDE-699865B0949A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39900-E3F8-B423-1D91-AEDA6ED5A07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05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5A307CAE-D4FE-61BC-0805-21617653098B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23AC839-088C-800A-C07E-E7EFC2B20FA8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900FA75-7B51-78BA-C469-71C723B6D61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104A54D-F4C4-6EC1-6BC0-5BC3779E6BD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7DC6FF1-5B31-8BBF-CEA5-F04A2D0C055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C043EF6-68A1-26B9-1A90-80D7952738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A73092C-48E3-FE2D-2DDA-314671BCB2FA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1DBD3CEA-DB45-533C-F675-B3AA252F2340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A98F202-D5FE-85D9-1617-394A29177AFD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833D220-BC3C-E4EF-6A33-AEEEF55D3AA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E26C02-A69C-8DCF-15EA-0A20F76CFA80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D10AEEF-1C1D-6196-A8ED-080DF0CA4E44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98CF15D4-15EE-12A6-78B3-3F0ED065BAF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CF8C52B-4582-59F7-2A19-E5AA8D3A9342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8AA342C0-8EED-62C4-A982-D24EE7BE4492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D2C90BF-2D80-E4B4-62F9-0E3B7A1CC6D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B5556CD-EE91-AC2F-5587-D458DB0C422F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512EDD7-DB62-C172-F236-7CBEC7B6C161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627744A8-3666-84AF-23B6-20DE9942333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74639A0-915A-1CA2-D63C-ED5B9DF5594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B861A95-B934-5A10-39EF-511EFAE7772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530CDA2-4A70-2274-B6FE-81A337A4D40E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1783F43-53DA-22F9-8D60-B82B5AC358C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F25574E-BEBC-FDEA-E813-F92CA5453B6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B4A53B2-F49E-9FE1-1C54-DDFB24C0117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D673A5C-960C-2FB9-03A1-C318A6FF38B3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B0129FE1-6000-5148-72E8-035A7D4DBDD6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68B88AA-035E-CF13-9E96-1C955D52C9F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0EA62EB-6878-E4A7-0485-6DBC7CE09F8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EC59F86-AA8B-EECA-6E3A-95F5CAAE331E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Рынок и конкуренты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1325880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spc="100">
                <a:solidFill>
                  <a:srgbClr val="22A889"/>
                </a:solidFill>
                <a:latin typeface="Arial"/>
              </a:rPr>
              <a:t>КОНКУРЕНТЫ: СЧИТАЮТ, НО НЕ ВЫБИРАЮТ</a:t>
            </a:r>
          </a:p>
        </p:txBody>
      </p:sp>
      <p:sp>
        <p:nvSpPr>
          <p:cNvPr id="35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12648" y="1627632"/>
            <a:ext cx="5852160" cy="1078992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868680" y="1810512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B3D"/>
                </a:solidFill>
                <a:latin typeface="Arial"/>
              </a:rPr>
              <a:t>ЛИРА-САПР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210312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Расчёт конструкций и работа с грунтами. Нет выбора типа фундамента со сравнением по стоимости</a:t>
            </a:r>
          </a:p>
        </p:txBody>
      </p:sp>
      <p:sp>
        <p:nvSpPr>
          <p:cNvPr id="38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12648" y="2843784"/>
            <a:ext cx="5852160" cy="1078992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868680" y="3026664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B3D"/>
                </a:solidFill>
                <a:latin typeface="Arial"/>
              </a:rPr>
              <a:t>SCAD Office · «ЗАПРОС»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319272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Расчёт и проверка оснований и фундаментов. Нет сравнения типов и технико-экономического обоснования</a:t>
            </a:r>
          </a:p>
        </p:txBody>
      </p:sp>
      <p:sp>
        <p:nvSpPr>
          <p:cNvPr id="41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12648" y="4059936"/>
            <a:ext cx="5852160" cy="1078992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868680" y="4242816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B3D"/>
                </a:solidFill>
                <a:latin typeface="Arial"/>
              </a:rPr>
              <a:t>nanoCAD Конструкции 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535424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Модуль «Фундаменты»: схемы и чертежи. Нет сравнения плиты, ленты, свай и столбов по стоимости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9128" y="1325880"/>
            <a:ext cx="4846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spc="100">
                <a:solidFill>
                  <a:srgbClr val="22A889"/>
                </a:solidFill>
                <a:latin typeface="Arial"/>
              </a:rPr>
              <a:t>СПРОС И ТРЕНДЫ</a:t>
            </a:r>
          </a:p>
        </p:txBody>
      </p:sp>
      <p:sp>
        <p:nvSpPr>
          <p:cNvPr id="45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739128" y="1627632"/>
            <a:ext cx="4846320" cy="1078992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6967728" y="1792224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solidFill>
                  <a:srgbClr val="0F1B3D"/>
                </a:solidFill>
                <a:latin typeface="Arial Black"/>
              </a:rPr>
              <a:t>8–15%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1856232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F1B3D"/>
                </a:solidFill>
                <a:latin typeface="Arial"/>
              </a:rPr>
              <a:t>рост цен на стройматериалы в 2025 году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87968" y="231343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B7892"/>
                </a:solidFill>
                <a:latin typeface="Arial"/>
              </a:rPr>
              <a:t>Росстат, Минстрой</a:t>
            </a:r>
          </a:p>
        </p:txBody>
      </p:sp>
      <p:sp>
        <p:nvSpPr>
          <p:cNvPr id="49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739128" y="2843784"/>
            <a:ext cx="4846320" cy="1078992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/>
          <p:cNvSpPr txBox="1"/>
          <p:nvPr/>
        </p:nvSpPr>
        <p:spPr>
          <a:xfrm>
            <a:off x="6967728" y="3008376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solidFill>
                  <a:srgbClr val="0F1B3D"/>
                </a:solidFill>
                <a:latin typeface="Arial Black"/>
              </a:rPr>
              <a:t>53 из 53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8" y="307238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F1B3D"/>
                </a:solidFill>
                <a:latin typeface="Arial"/>
              </a:rPr>
              <a:t>недель с интересом к «цена фундамента»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7968" y="352958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B7892"/>
                </a:solidFill>
                <a:latin typeface="Arial"/>
              </a:rPr>
              <a:t>Google Trends, 12 мес.</a:t>
            </a:r>
          </a:p>
        </p:txBody>
      </p:sp>
      <p:sp>
        <p:nvSpPr>
          <p:cNvPr id="53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739128" y="4059936"/>
            <a:ext cx="4846320" cy="1078992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/>
          <p:cNvSpPr txBox="1"/>
          <p:nvPr/>
        </p:nvSpPr>
        <p:spPr>
          <a:xfrm>
            <a:off x="6967728" y="4224528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solidFill>
                  <a:srgbClr val="0F1B3D"/>
                </a:solidFill>
                <a:latin typeface="Arial Black"/>
              </a:rPr>
              <a:t>3 из 53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87968" y="4288536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F1B3D"/>
                </a:solidFill>
                <a:latin typeface="Arial"/>
              </a:rPr>
              <a:t>недель с запросами «ИИ в строительстве»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87968" y="474573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B7892"/>
                </a:solidFill>
                <a:latin typeface="Arial"/>
              </a:rPr>
              <a:t>Google Trends: ниша почти пуста</a:t>
            </a:r>
          </a:p>
        </p:txBody>
      </p:sp>
      <p:sp>
        <p:nvSpPr>
          <p:cNvPr id="57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/>
          <p:nvPr/>
        </p:nvSpPr>
        <p:spPr>
          <a:xfrm>
            <a:off x="612648" y="539496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914400" y="539496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Выбор между типами фундамента остаётся ручным этапом, а ТИМ, дефицит кадров и регионализация цен усиливают спрос на автоматизацию</a:t>
            </a:r>
          </a:p>
        </p:txBody>
      </p:sp>
    </p:spTree>
    <p:extLst>
      <p:ext uri="{BB962C8B-B14F-4D97-AF65-F5344CB8AC3E}">
        <p14:creationId xmlns:p14="http://schemas.microsoft.com/office/powerpoint/2010/main" val="280193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E30C3-D144-9786-3491-CE174604A805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7B171-7ECB-1ED3-D93F-4E9D75AFBCA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06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FB845745-7E20-320A-0087-0527C74AB10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1B4B66FD-F435-7C17-D350-2AD351260734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ADAB74C-F431-9350-71AB-974ED36E242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983AE699-6108-D747-4EC5-C77E68ACD9C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9BBED82-C31C-727B-C84E-7DBB4742E5B7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DCCC5E9-D85D-7B03-5434-D44A77CD1CA9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1A8FFD90-6C58-E810-8B58-97F9D3B8B687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0B7519F-6B70-ADA6-3216-4CB5C37F26A2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E7009FEC-E36C-8C13-610D-954527E15E9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531C221F-E1C8-1D93-7194-FB70258F3CB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C142320-4D8E-D458-941C-F5153A5B2092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C6D7C0C-26E5-0142-A059-9F593EF615B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BF0A95D-824A-3C3E-8104-D6FA466C3420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331B85C5-A21D-A791-35A8-8D953D6F629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142C75E-B0BC-C09D-27A7-3ABD329C83E1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737EFE9-4A4F-99CD-4308-130F8B18A54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57A66CC-87CC-2AFD-5175-871BE074F88B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41770E3-D9B2-2226-A7E9-BA35B6BE3E2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A392808F-5C93-678A-68B7-726AFE03B4D6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E3A129F-FCF5-C070-4F66-FB4DB6473489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87E3A7A-0E62-527D-A2DC-51B6F91D901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A7B157A-9CA9-A442-7316-5B9AD712BFD4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1D3FE673-D6B7-8F95-6FE9-90F09BE3A946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49312BD8-55AE-5C20-91B7-BD5B5FBE895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5DB632F-87CD-A2F8-0683-9CC71AF281A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B736626B-7072-B270-DDF2-99EF02B066F9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34C36A90-E70F-B8BB-98A7-3778E73BFEE4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F590B6C-F52F-F2A1-1040-F3879F3A1351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F6798FB0-2739-0CE2-FC75-C252CD3D34EF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981A733-C286-F8E5-3CAD-AE2A67114894}"/>
              </a:ext>
            </a:extLst>
          </p:cNvPr>
          <p:cNvSpPr txBox="1"/>
          <p:nvPr/>
        </p:nvSpPr>
        <p:spPr>
          <a:xfrm>
            <a:off x="612648" y="51562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Предлагаемое решение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D1AC979-973C-0D7B-3FE7-0331EE9FDE2E}"/>
              </a:ext>
            </a:extLst>
          </p:cNvPr>
          <p:cNvSpPr/>
          <p:nvPr/>
        </p:nvSpPr>
        <p:spPr>
          <a:xfrm>
            <a:off x="609600" y="1320800"/>
            <a:ext cx="6604000" cy="190500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733BCA-DDEC-22DE-225A-A5435985F562}"/>
              </a:ext>
            </a:extLst>
          </p:cNvPr>
          <p:cNvSpPr txBox="1"/>
          <p:nvPr/>
        </p:nvSpPr>
        <p:spPr>
          <a:xfrm>
            <a:off x="914400" y="15240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НАШ ПРОДУКТ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505BF-E63E-73BD-E1DF-C18F17FE13E9}"/>
              </a:ext>
            </a:extLst>
          </p:cNvPr>
          <p:cNvSpPr txBox="1"/>
          <p:nvPr/>
        </p:nvSpPr>
        <p:spPr>
          <a:xfrm>
            <a:off x="914400" y="1778000"/>
            <a:ext cx="59944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 b="1">
                <a:solidFill>
                  <a:srgbClr val="FFFFFF"/>
                </a:solidFill>
                <a:latin typeface="Arial" panose="020B0604020202020204" pitchFamily="34" charset="0"/>
              </a:rPr>
              <a:t>Веб-сервис: проектировщик вводит 9 параметров грунта, здания и площадки и получает рейтинг четырёх типов фундамента, объяснение и отчёт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F2A32F-68C1-1408-6398-107ED7EDE452}"/>
              </a:ext>
            </a:extLst>
          </p:cNvPr>
          <p:cNvSpPr txBox="1"/>
          <p:nvPr/>
        </p:nvSpPr>
        <p:spPr>
          <a:xfrm>
            <a:off x="609600" y="35052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КАК РЕШАЕМ ПРОБЛЕМУ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9842D52D-DADE-F20A-80E2-AB4BC44F079F}"/>
              </a:ext>
            </a:extLst>
          </p:cNvPr>
          <p:cNvSpPr/>
          <p:nvPr/>
        </p:nvSpPr>
        <p:spPr>
          <a:xfrm>
            <a:off x="6096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889672-E0C9-D9CA-B1D5-4C7DF01FE964}"/>
              </a:ext>
            </a:extLst>
          </p:cNvPr>
          <p:cNvSpPr txBox="1"/>
          <p:nvPr/>
        </p:nvSpPr>
        <p:spPr>
          <a:xfrm>
            <a:off x="8128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Проблема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CF601-EEEC-007C-5629-44CFD81C4920}"/>
              </a:ext>
            </a:extLst>
          </p:cNvPr>
          <p:cNvSpPr txBox="1"/>
          <p:nvPr/>
        </p:nvSpPr>
        <p:spPr>
          <a:xfrm>
            <a:off x="812800" y="4597400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6B7892"/>
                </a:solidFill>
                <a:latin typeface="Arial" panose="020B0604020202020204" pitchFamily="34" charset="0"/>
              </a:rPr>
              <a:t>Подбор по опыту, типовые ошибки, 3+ итерации проверки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C70004-54D9-1515-0105-711E81C0762E}"/>
              </a:ext>
            </a:extLst>
          </p:cNvPr>
          <p:cNvSpPr txBox="1"/>
          <p:nvPr/>
        </p:nvSpPr>
        <p:spPr>
          <a:xfrm>
            <a:off x="25654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b="1">
                <a:solidFill>
                  <a:srgbClr val="22A889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053B6FB2-2876-5808-E5C5-6CD415DBC139}"/>
              </a:ext>
            </a:extLst>
          </p:cNvPr>
          <p:cNvSpPr/>
          <p:nvPr/>
        </p:nvSpPr>
        <p:spPr>
          <a:xfrm>
            <a:off x="29210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F60942-A611-7D41-6E78-46811FB3AB4B}"/>
              </a:ext>
            </a:extLst>
          </p:cNvPr>
          <p:cNvSpPr txBox="1"/>
          <p:nvPr/>
        </p:nvSpPr>
        <p:spPr>
          <a:xfrm>
            <a:off x="31242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Механика решения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7AC021-645A-65AF-49DB-5FE5CA0CD009}"/>
              </a:ext>
            </a:extLst>
          </p:cNvPr>
          <p:cNvSpPr txBox="1"/>
          <p:nvPr/>
        </p:nvSpPr>
        <p:spPr>
          <a:xfrm>
            <a:off x="3124200" y="4597400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6B7892"/>
                </a:solidFill>
                <a:latin typeface="Arial" panose="020B0604020202020204" pitchFamily="34" charset="0"/>
              </a:rPr>
              <a:t>Jev оценивает 4 типа по правилам справочника, LLM объясняет выбор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846D3B-F136-9DE9-711F-D237CA9FD703}"/>
              </a:ext>
            </a:extLst>
          </p:cNvPr>
          <p:cNvSpPr txBox="1"/>
          <p:nvPr/>
        </p:nvSpPr>
        <p:spPr>
          <a:xfrm>
            <a:off x="48768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b="1">
                <a:solidFill>
                  <a:srgbClr val="22A889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E25D1AB4-8354-1C85-F3FC-F220335C3177}"/>
              </a:ext>
            </a:extLst>
          </p:cNvPr>
          <p:cNvSpPr/>
          <p:nvPr/>
        </p:nvSpPr>
        <p:spPr>
          <a:xfrm>
            <a:off x="52324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6E7DFB-5D86-3056-3892-3D06837F8B6A}"/>
              </a:ext>
            </a:extLst>
          </p:cNvPr>
          <p:cNvSpPr txBox="1"/>
          <p:nvPr/>
        </p:nvSpPr>
        <p:spPr>
          <a:xfrm>
            <a:off x="54356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Результат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CEF5C2-C386-4B3F-389B-014829FD83DD}"/>
              </a:ext>
            </a:extLst>
          </p:cNvPr>
          <p:cNvSpPr txBox="1"/>
          <p:nvPr/>
        </p:nvSpPr>
        <p:spPr>
          <a:xfrm>
            <a:off x="5435600" y="4597400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6B7892"/>
                </a:solidFill>
                <a:latin typeface="Arial" panose="020B0604020202020204" pitchFamily="34" charset="0"/>
              </a:rPr>
              <a:t>Рекомендация, 2 альтернативы и отчёт с обоснованием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2C14BA-6141-00E8-77EF-38BB4598FED5}"/>
              </a:ext>
            </a:extLst>
          </p:cNvPr>
          <p:cNvSpPr txBox="1"/>
          <p:nvPr/>
        </p:nvSpPr>
        <p:spPr>
          <a:xfrm>
            <a:off x="7721600" y="3314700"/>
            <a:ext cx="3657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200" b="1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89520" y="1325880"/>
            <a:ext cx="39959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spc="100">
                <a:solidFill>
                  <a:srgbClr val="22A889"/>
                </a:solidFill>
                <a:latin typeface="Arial"/>
              </a:rPr>
              <a:t>ЭКРАН ВВОДА ДАННЫХ</a:t>
            </a:r>
          </a:p>
        </p:txBody>
      </p:sp>
      <p:pic>
        <p:nvPicPr>
          <p:cNvPr id="52" name="Picture 51" descr="crop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45920"/>
            <a:ext cx="3995928" cy="3260605"/>
          </a:xfrm>
          <a:prstGeom prst="rect">
            <a:avLst/>
          </a:prstGeom>
          <a:ln w="9525">
            <a:solidFill>
              <a:srgbClr val="DCE6EE"/>
            </a:solidFill>
          </a:ln>
        </p:spPr>
      </p:pic>
    </p:spTree>
    <p:extLst>
      <p:ext uri="{BB962C8B-B14F-4D97-AF65-F5344CB8AC3E}">
        <p14:creationId xmlns:p14="http://schemas.microsoft.com/office/powerpoint/2010/main" val="3025478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9D6CA0-3F2C-DC63-46A7-345EC20C1E50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503FF-81D1-0180-32C2-5EAD792D848A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07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455E20A2-0BCE-27C2-A337-8726CBC2286F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2829D8C-F18D-B1E8-728B-BB2562909BB7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86AB556-3B7B-8845-08D5-6C9805AD1B1E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DC9A401B-8D57-1568-BA79-F4E408E97912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B7F383E-DFD5-4AA8-2C93-D47C2C82C2D3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E57D6249-6352-1195-304E-92584816161F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C6A21B5-1A51-818A-D50C-9418DC9AC4DB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B9842DD4-0511-5F15-23BE-DB86DD033E0F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96CB868-B1DB-CF6C-D35A-584675C10155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A20F218-7463-B104-0477-505853547E39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C55B7B9-7CC5-DBFF-AADA-2481453243C3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E5E1266-F93C-8835-4133-025814D3B70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AE24A51-45F6-C1A3-5A03-4C977A4510BC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C212C6B-0FEC-12CF-8E7C-E2518163D28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C1DB416-5A80-6B30-F839-FC15CE755C72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F98EFEDD-4734-62D4-93E9-6D6811EABBED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C85B963-3F3D-1EFA-E809-0BE69EB9C379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040BA5B2-2E9A-9BA8-D892-6F2BFC478DC7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F4BC92F9-D6ED-524B-940E-C4C6327F7C83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24260F5F-1E0D-2A13-E001-ACEDCD02092A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6FBB2FA-A625-890A-046E-4E6B45448AAE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C827E2D-E3F1-4EFE-7039-F19A896110F3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C20F2483-D5C8-D338-D4F7-D14DE4DC0DB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9FDDBE40-77B2-78C7-0750-BA0DD6668148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D0403811-8CC5-CCF1-086C-D5C1F8FD94DA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FB7E1DA-9FC3-B410-AF03-D92B87D49D9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4204A84-4C38-8054-15DE-6DF9283F1A23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5CE84307-58D8-2681-F279-CD6D0A34F33D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87669487-4751-3EF6-9CDC-D58043E97D22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67CED46-4673-80DE-BD37-C8914F013430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Ценность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D8288D-2B5B-B9E5-4BB7-B72C5A1C9576}"/>
              </a:ext>
            </a:extLst>
          </p:cNvPr>
          <p:cNvSpPr txBox="1"/>
          <p:nvPr/>
        </p:nvSpPr>
        <p:spPr>
          <a:xfrm>
            <a:off x="609600" y="1270000"/>
            <a:ext cx="10972800" cy="5029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>
                <a:solidFill>
                  <a:srgbClr val="35425F"/>
                </a:solidFill>
                <a:latin typeface="Arial" panose="020B0604020202020204" pitchFamily="34" charset="0"/>
              </a:rPr>
              <a:t>Проектировщик получает обоснованный выбор типа фундамента за минуты и передаёт проект дальше без лишних итераций</a:t>
            </a:r>
          </a:p>
        </p:txBody>
      </p:sp>
      <p:sp>
        <p:nvSpPr>
          <p:cNvPr id="35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12648" y="2011680"/>
            <a:ext cx="3474720" cy="246888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68680" y="2267712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278892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F1B3D"/>
                </a:solidFill>
                <a:latin typeface="Arial"/>
              </a:rPr>
              <a:t>Быстрее решение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200400"/>
            <a:ext cx="2971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Рейтинг четырёх типов сразу после ввода данных — без ручного сравнения вариантов</a:t>
            </a:r>
          </a:p>
        </p:txBody>
      </p:sp>
      <p:sp>
        <p:nvSpPr>
          <p:cNvPr id="39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4361688" y="2011680"/>
            <a:ext cx="3474720" cy="246888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4617720" y="2267712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278892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F1B3D"/>
                </a:solidFill>
                <a:latin typeface="Arial"/>
              </a:rPr>
              <a:t>Меньше итераций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3200400"/>
            <a:ext cx="2971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Каждый вердикт привязан к правилу справочника, поэтому ошибку подбора видно до проверки</a:t>
            </a:r>
          </a:p>
        </p:txBody>
      </p:sp>
      <p:sp>
        <p:nvSpPr>
          <p:cNvPr id="43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8110727" y="2011680"/>
            <a:ext cx="3474720" cy="246888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366759" y="2267712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59" y="278892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F1B3D"/>
                </a:solidFill>
                <a:latin typeface="Arial"/>
              </a:rPr>
              <a:t>Учёт экономики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59" y="3200400"/>
            <a:ext cx="2971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Ориентировочная стоимость и трудозатраты по региональным ценам на бетон, арматуру и земляные работы</a:t>
            </a:r>
          </a:p>
        </p:txBody>
      </p:sp>
      <p:sp>
        <p:nvSpPr>
          <p:cNvPr id="47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/>
          <p:nvPr/>
        </p:nvSpPr>
        <p:spPr>
          <a:xfrm>
            <a:off x="612648" y="475488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914400" y="4956048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spc="100">
                <a:solidFill>
                  <a:srgbClr val="7FE3C4"/>
                </a:solidFill>
                <a:latin typeface="Arial"/>
              </a:rPr>
              <a:t>ЧТО ИЗМЕРИМ НА ПИЛОТЕ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23036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Время на выбор типа фундамента, число итераций проверки и отклонение сметы. Измерений пока нет, поэтому цифр эффекта не приводим</a:t>
            </a:r>
          </a:p>
        </p:txBody>
      </p:sp>
    </p:spTree>
    <p:extLst>
      <p:ext uri="{BB962C8B-B14F-4D97-AF65-F5344CB8AC3E}">
        <p14:creationId xmlns:p14="http://schemas.microsoft.com/office/powerpoint/2010/main" val="1602982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644D0-3DBB-1D34-FFDE-699865B0949A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39900-E3F8-B423-1D91-AEDA6ED5A07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08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5A307CAE-D4FE-61BC-0805-21617653098B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23AC839-088C-800A-C07E-E7EFC2B20FA8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900FA75-7B51-78BA-C469-71C723B6D61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104A54D-F4C4-6EC1-6BC0-5BC3779E6BD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7DC6FF1-5B31-8BBF-CEA5-F04A2D0C055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C043EF6-68A1-26B9-1A90-80D7952738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A73092C-48E3-FE2D-2DDA-314671BCB2FA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1DBD3CEA-DB45-533C-F675-B3AA252F2340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A98F202-D5FE-85D9-1617-394A29177AFD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833D220-BC3C-E4EF-6A33-AEEEF55D3AA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E26C02-A69C-8DCF-15EA-0A20F76CFA80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D10AEEF-1C1D-6196-A8ED-080DF0CA4E44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98CF15D4-15EE-12A6-78B3-3F0ED065BAF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CF8C52B-4582-59F7-2A19-E5AA8D3A9342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8AA342C0-8EED-62C4-A982-D24EE7BE4492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D2C90BF-2D80-E4B4-62F9-0E3B7A1CC6D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B5556CD-EE91-AC2F-5587-D458DB0C422F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512EDD7-DB62-C172-F236-7CBEC7B6C161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627744A8-3666-84AF-23B6-20DE9942333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74639A0-915A-1CA2-D63C-ED5B9DF5594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B861A95-B934-5A10-39EF-511EFAE7772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530CDA2-4A70-2274-B6FE-81A337A4D40E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1783F43-53DA-22F9-8D60-B82B5AC358C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F25574E-BEBC-FDEA-E813-F92CA5453B6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B4A53B2-F49E-9FE1-1C54-DDFB24C0117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D673A5C-960C-2FB9-03A1-C318A6FF38B3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B0129FE1-6000-5148-72E8-035A7D4DBDD6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68B88AA-035E-CF13-9E96-1C955D52C9F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0EA62EB-6878-E4A7-0485-6DBC7CE09F8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EC59F86-AA8B-EECA-6E3A-95F5CAAE331E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Ключевые возможности</a:t>
            </a:r>
          </a:p>
        </p:txBody>
      </p:sp>
      <p:sp>
        <p:nvSpPr>
          <p:cNvPr id="34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12648" y="1371600"/>
            <a:ext cx="3474720" cy="224028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68680" y="1627632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212140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F1B3D"/>
                </a:solidFill>
                <a:latin typeface="Arial"/>
              </a:rPr>
              <a:t>Ввод 9 параметров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2487168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Грунт, несущая способность, УГВ, этажность, площадь, материал стен, климат, промерзание, сейсмичность</a:t>
            </a:r>
          </a:p>
        </p:txBody>
      </p:sp>
      <p:sp>
        <p:nvSpPr>
          <p:cNvPr id="38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4361688" y="1371600"/>
            <a:ext cx="3474720" cy="224028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4617720" y="1627632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212140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F1B3D"/>
                </a:solidFill>
                <a:latin typeface="Arial"/>
              </a:rPr>
              <a:t>Оценка 4 типов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2487168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Ленточный, плитный, свайный и столбчатый — процент пригодности от 0 до 100</a:t>
            </a:r>
          </a:p>
        </p:txBody>
      </p:sp>
      <p:sp>
        <p:nvSpPr>
          <p:cNvPr id="42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8110727" y="1371600"/>
            <a:ext cx="3474720" cy="224028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366759" y="1627632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59" y="212140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F1B3D"/>
                </a:solidFill>
                <a:latin typeface="Arial"/>
              </a:rPr>
              <a:t>Объяснение выбора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59" y="2487168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Плюсы и минусы вариантов и чем победитель лучше альтернатив</a:t>
            </a:r>
          </a:p>
        </p:txBody>
      </p:sp>
      <p:sp>
        <p:nvSpPr>
          <p:cNvPr id="46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12648" y="3840480"/>
            <a:ext cx="3474720" cy="224028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68680" y="4096512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59028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F1B3D"/>
                </a:solidFill>
                <a:latin typeface="Arial"/>
              </a:rPr>
              <a:t>Отчёт для инженера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4956048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Исходные данные, матрица правил, риски и вывод; печать и PDF</a:t>
            </a:r>
          </a:p>
        </p:txBody>
      </p:sp>
    </p:spTree>
    <p:extLst>
      <p:ext uri="{BB962C8B-B14F-4D97-AF65-F5344CB8AC3E}">
        <p14:creationId xmlns:p14="http://schemas.microsoft.com/office/powerpoint/2010/main" val="280193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4B0E2-BBA5-CE43-2543-85574D320A31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ГЛАВНОЕ ОТЛИЧИЕ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9A137-FAF5-F0BB-0F3D-4B6FDC1B9B9C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09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6B467314-FDC2-EDD7-8B52-F22FCB9C08A5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23B2A64-18F5-E291-1A6E-FEEA3E071C06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BA97DEB-3209-6C4F-1222-38F69B6F8645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C2A37FD-960B-EA9B-FBE4-A13DD79E66A3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F29764A-0A37-BF7A-D00A-B8A6DE76E105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0BFCA72-4940-49D5-F42E-4273E35A4A4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9693858-1E11-C515-0FF4-0E51805A1042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D393096-A2B0-6CC4-E411-4BCEE217562A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BB76C3D-02C0-16F2-034B-BCF6950BEAC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08B162A-1E45-3F79-B84C-9278FAC37B9D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FCF9285-84CD-CC8A-A2BB-8E77E3F8AF3F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1ECC5F7-9E77-3CC7-B4B4-1AB9E695A650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5C04CC1-C621-4BB7-563A-BDD786B564D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9769C0F-0DFC-406C-03CF-248BEF4CF96E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E75A6BB7-9ADE-53FF-33EF-D3328FD3836D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1CF1239-BA43-56D8-4E52-EC3367417E0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E274341B-0086-8359-F3F4-495680513874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52831725-310E-003B-660E-B62C33244B25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E3D8DF4-E120-1A63-ABE0-306191FA2426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7521F739-4152-9755-7891-54D50BA29B17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3834688-7880-ADA2-4948-AFF17BEE31DA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6A58923-AA62-A71F-D9B0-ADA7D068D172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FCBE72C-8843-E76C-567A-8C4D749FC558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9B5C589-A8B9-00BD-8401-DBBCF2C6CB6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058D8DFF-2D91-9160-7D0C-8986508CAD9B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AEFF877-9A21-1777-5831-E764827FB1B5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A5728125-4E74-3463-FC12-98C6CCC7ABE8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0CE4F64C-9681-DB7B-1FB2-4FC23738DEB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58CC6418-743D-D9C8-9C98-BC096C8845EC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6091AF9-D03D-A387-6A36-0B73C91FF6E8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Киллер-фича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88D7D58A-0C16-37DF-608B-E9694CE5FBA4}"/>
              </a:ext>
            </a:extLst>
          </p:cNvPr>
          <p:cNvSpPr/>
          <p:nvPr/>
        </p:nvSpPr>
        <p:spPr>
          <a:xfrm>
            <a:off x="609600" y="1320800"/>
            <a:ext cx="6604000" cy="4445000"/>
          </a:xfrm>
          <a:prstGeom prst="roundRect">
            <a:avLst>
              <a:gd name="adj" fmla="val 7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6D6F9-7A53-A14F-C08B-E5EDAADDF435}"/>
              </a:ext>
            </a:extLst>
          </p:cNvPr>
          <p:cNvSpPr txBox="1"/>
          <p:nvPr/>
        </p:nvSpPr>
        <p:spPr>
          <a:xfrm>
            <a:off x="965200" y="16256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КЛЮЧЕВАЯ ОСОБЕННОСТЬ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7AB334-E83C-1D97-3B27-1B9ED279A809}"/>
              </a:ext>
            </a:extLst>
          </p:cNvPr>
          <p:cNvSpPr txBox="1"/>
          <p:nvPr/>
        </p:nvSpPr>
        <p:spPr>
          <a:xfrm>
            <a:off x="965200" y="1905000"/>
            <a:ext cx="58928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600">
                <a:solidFill>
                  <a:srgbClr val="FFFFFF"/>
                </a:solidFill>
                <a:latin typeface="Arial Black" panose="020B0A04020102020204" pitchFamily="34" charset="0"/>
              </a:rPr>
              <a:t>Прозрачная матрица правил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4439CE-BB05-85AA-22EA-E95F3675CEB1}"/>
              </a:ext>
            </a:extLst>
          </p:cNvPr>
          <p:cNvSpPr txBox="1"/>
          <p:nvPr/>
        </p:nvSpPr>
        <p:spPr>
          <a:xfrm>
            <a:off x="965200" y="3251200"/>
            <a:ext cx="58928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FFFFFF"/>
                </a:solidFill>
                <a:latin typeface="Arial" panose="020B0604020202020204" pitchFamily="34" charset="0"/>
              </a:rPr>
              <a:t>Каждый тип оценивается по каждому фактору: вердикт от «благоприятно» до «исключает» и сила влияния. LLM пишет только текст и не меняет числа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5DD55FA-F417-57F2-FC02-87E3AD6E8718}"/>
              </a:ext>
            </a:extLst>
          </p:cNvPr>
          <p:cNvSpPr/>
          <p:nvPr/>
        </p:nvSpPr>
        <p:spPr>
          <a:xfrm>
            <a:off x="965200" y="4673600"/>
            <a:ext cx="5892800" cy="736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EAB993-EA63-698E-0DC5-7FE12E42EBE7}"/>
              </a:ext>
            </a:extLst>
          </p:cNvPr>
          <p:cNvSpPr txBox="1"/>
          <p:nvPr/>
        </p:nvSpPr>
        <p:spPr>
          <a:xfrm>
            <a:off x="1219200" y="4800600"/>
            <a:ext cx="5384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22A889"/>
                </a:solidFill>
                <a:latin typeface="Arial" panose="020B0604020202020204" pitchFamily="34" charset="0"/>
              </a:rPr>
              <a:t>ЭФФЕКТ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4A404D-A6FF-D615-DA5F-4BC95DA44369}"/>
              </a:ext>
            </a:extLst>
          </p:cNvPr>
          <p:cNvSpPr txBox="1"/>
          <p:nvPr/>
        </p:nvSpPr>
        <p:spPr>
          <a:xfrm>
            <a:off x="1219200" y="5029200"/>
            <a:ext cx="5384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Выбор проверяется по правилам, а не на доверии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4D0987-F041-1882-B43E-5EA94F101509}"/>
              </a:ext>
            </a:extLst>
          </p:cNvPr>
          <p:cNvSpPr txBox="1"/>
          <p:nvPr/>
        </p:nvSpPr>
        <p:spPr>
          <a:xfrm>
            <a:off x="7518400" y="1320800"/>
            <a:ext cx="406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ЧЕМ ОТЛИЧАЕМСЯ?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967FB96B-A6EE-E690-9DBB-7966D47161A9}"/>
              </a:ext>
            </a:extLst>
          </p:cNvPr>
          <p:cNvSpPr/>
          <p:nvPr/>
        </p:nvSpPr>
        <p:spPr>
          <a:xfrm>
            <a:off x="7518400" y="1625600"/>
            <a:ext cx="4064000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31BA54BD-5EE8-2EEF-0076-CCD1FADE455B}"/>
              </a:ext>
            </a:extLst>
          </p:cNvPr>
          <p:cNvSpPr/>
          <p:nvPr/>
        </p:nvSpPr>
        <p:spPr>
          <a:xfrm>
            <a:off x="7772400" y="18796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F110B5-BF8A-9CD9-7525-684F0A4EAFC9}"/>
              </a:ext>
            </a:extLst>
          </p:cNvPr>
          <p:cNvSpPr txBox="1"/>
          <p:nvPr/>
        </p:nvSpPr>
        <p:spPr>
          <a:xfrm>
            <a:off x="7772400" y="2387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>
                <a:solidFill>
                  <a:srgbClr val="0F1B3D"/>
                </a:solidFill>
                <a:latin typeface="Arial" panose="020B0604020202020204" pitchFamily="34" charset="0"/>
              </a:rPr>
              <a:t>Иначе, чем у других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D3A045-6F58-AB1D-C1AB-3E99EFCA92FD}"/>
              </a:ext>
            </a:extLst>
          </p:cNvPr>
          <p:cNvSpPr txBox="1"/>
          <p:nvPr/>
        </p:nvSpPr>
        <p:spPr>
          <a:xfrm>
            <a:off x="7772400" y="2717800"/>
            <a:ext cx="3556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6B7892"/>
                </a:solidFill>
                <a:latin typeface="Arial" panose="020B0604020202020204" pitchFamily="34" charset="0"/>
              </a:rPr>
              <a:t>САПР считают уже выбранный тип. Мы сравниваем 4 альтернативы до расчёта и показываем, почему выиграл один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5231C5F1-695B-7DFC-0F7C-1FFAC9C9A504}"/>
              </a:ext>
            </a:extLst>
          </p:cNvPr>
          <p:cNvSpPr/>
          <p:nvPr/>
        </p:nvSpPr>
        <p:spPr>
          <a:xfrm>
            <a:off x="7518400" y="3759200"/>
            <a:ext cx="4064000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D4C1B504-3D8D-0637-1DB8-DA223FE1631B}"/>
              </a:ext>
            </a:extLst>
          </p:cNvPr>
          <p:cNvSpPr/>
          <p:nvPr/>
        </p:nvSpPr>
        <p:spPr>
          <a:xfrm>
            <a:off x="7772400" y="40132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8BA849-EBEF-43DC-A451-81F89188BBE0}"/>
              </a:ext>
            </a:extLst>
          </p:cNvPr>
          <p:cNvSpPr txBox="1"/>
          <p:nvPr/>
        </p:nvSpPr>
        <p:spPr>
          <a:xfrm>
            <a:off x="7772400" y="45212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>
                <a:solidFill>
                  <a:srgbClr val="0F1B3D"/>
                </a:solidFill>
                <a:latin typeface="Arial" panose="020B0604020202020204" pitchFamily="34" charset="0"/>
              </a:rPr>
              <a:t>Эффект для пользователя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50B8CC-2CAD-8636-25C7-67EAC6757C7B}"/>
              </a:ext>
            </a:extLst>
          </p:cNvPr>
          <p:cNvSpPr txBox="1"/>
          <p:nvPr/>
        </p:nvSpPr>
        <p:spPr>
          <a:xfrm>
            <a:off x="7772400" y="4851400"/>
            <a:ext cx="3556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6B7892"/>
                </a:solidFill>
                <a:latin typeface="Arial" panose="020B0604020202020204" pitchFamily="34" charset="0"/>
              </a:rPr>
              <a:t>Видно, какой фактор исключил вариант: например, столбчатый — по этажности</a:t>
            </a:r>
          </a:p>
        </p:txBody>
      </p:sp>
    </p:spTree>
    <p:extLst>
      <p:ext uri="{BB962C8B-B14F-4D97-AF65-F5344CB8AC3E}">
        <p14:creationId xmlns:p14="http://schemas.microsoft.com/office/powerpoint/2010/main" val="354533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65E1-BA9D-78D4-B032-1F4CCFA2B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48A17-5F15-C2FC-AC39-2057B8C8E291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ГЛАВНОЕ ОТЛИЧИЕ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48917-5B37-EF91-D186-375F7F7F615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09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301E2D4C-77F6-515F-34D0-2ACE46CDC7B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B799075-3712-45F3-57E7-1B5918F3B1F7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4F3EF05-4E5D-3AB4-0991-D900768759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85EEC19-4F39-1156-EF83-1C64D30418B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65BCCEF-D53F-D306-B541-BBA957540A62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A8134B1-1054-D521-B047-055B232D26E7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6FF0A21-03F4-85BF-7301-9629101F70CB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059E5D4-2840-BD75-BD71-BB86DDDDBAB1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7A39C5A8-4F7C-D3DF-9AD5-900EDFD80743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0AD062A-31E0-35AF-75CC-D1AFE4AE1EC0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A0EB8C5D-3CB3-2F22-3C64-E93BF604BF11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BD6BC4E-A3CF-2E99-3532-87A8BCEAA46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A8FE64F-07F1-960B-31B0-E8BADFB3E564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CA3D33F7-0A5C-BD4E-673E-048E1BB6D1A9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B7482AF4-0346-9D24-E26C-1D80AFF7A55E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F8D43F78-F1DF-057D-7E6B-468366023E9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DF2F51E-042B-A53F-F459-07E96E0B9716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CFE9FE54-3E71-C7BE-19A5-324F1A75AE88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779B2494-3D55-A46D-1EA1-51685AB6B38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1D03B24F-6837-9367-97D9-5A5D5793B0F6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46486C06-D67D-54E8-646A-EDFA6DDF622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EC8414A7-F62A-65FE-95A0-11B038C09902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18492E7B-F63F-AE12-2D96-1045B73F32C7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C6FEC4D4-94A8-150C-9EE7-A94C9461895A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3E8B6140-66F1-3F60-B708-447987CDDD25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B9A5D4E-866B-0B82-80AE-968E474BEDF6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500A2643-2C43-4D41-2952-792E9DA52227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433E49B6-57B8-B2A2-50ED-899FC71850D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6C6DC4F-5026-90E8-C841-6ED5CD987E6A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BB2E748-A7A7-F7E1-8A97-573E2EA57CB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Выгоды для компании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6BBF5FEE-38E9-F472-92DB-9555A1B61204}"/>
              </a:ext>
            </a:extLst>
          </p:cNvPr>
          <p:cNvSpPr/>
          <p:nvPr/>
        </p:nvSpPr>
        <p:spPr>
          <a:xfrm>
            <a:off x="609600" y="1979561"/>
            <a:ext cx="7295536" cy="2841523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0B2880-EC28-50B9-7739-727653826E7C}"/>
              </a:ext>
            </a:extLst>
          </p:cNvPr>
          <p:cNvSpPr txBox="1"/>
          <p:nvPr/>
        </p:nvSpPr>
        <p:spPr>
          <a:xfrm>
            <a:off x="919315" y="2463800"/>
            <a:ext cx="6549925" cy="193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Прямая экономия трудозатрат проектировщиков</a:t>
            </a:r>
            <a:endParaRPr lang="en-US" b="1" dirty="0"/>
          </a:p>
          <a:p>
            <a:endParaRPr lang="ru-RU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Снижение сметной стоимости фундамента (прямая экономия для заказчика = конкурентное преимущество для вас)</a:t>
            </a: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Сокращение сроков разработки ПСД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график роста на прозрачном фоне 28 фото">
            <a:extLst>
              <a:ext uri="{FF2B5EF4-FFF2-40B4-BE49-F238E27FC236}">
                <a16:creationId xmlns:a16="http://schemas.microsoft.com/office/drawing/2014/main" id="{445B79AF-BF43-9388-64FE-D95C34E7D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116" y="1573980"/>
            <a:ext cx="3652684" cy="365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519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2A8FA-2092-457E-3280-3F68053C5E45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10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4A218C37-98E6-4DFF-CC79-3DE0FD615BB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FE09DBC5-86BA-CA7B-2FAA-857961E5DAE1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F3B09AB-9174-D36B-951F-5C706CE713A0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3194180-8BE1-D5BD-8659-1310948872B6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9756EB55-DFA5-69A2-6A44-E3D91E821CD2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88C1280D-3E4D-D2E4-F2EE-5ABC6ACC0FB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70CCD9BB-18A0-B425-294B-166D052BD7F0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6DC5417-1371-6668-54DE-446A5996A927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9A64FA6-02B6-B0DF-020D-36FBFC1E67D0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AC1FB737-E6A6-3C01-22EE-D76FC4CAC01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3C57E28-9357-12D3-9259-E0BAAF28E554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688EE07-F4D7-3AE7-5F68-E6BCC33026F1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B8E5EFE-4E84-5878-0732-D0FAA9292712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4097696-C1ED-35D4-C464-9738C07544F6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4F066E6A-3459-2031-85D2-E432C7662D08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8644A8A-6295-B751-6ACC-9E07915F2FC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1EFFE68-616E-7D84-F880-EFEFB242CDF9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0FB814B-4E09-E75A-6102-57A51BA642C2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FC6135C-9645-7B9A-9014-6F90AC7C873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C6947C61-E56F-985B-4461-EF2C55DB2164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6DEC0BD-98BF-8DB4-8D65-F27844B8EFF8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B831DAA-56ED-AAD2-DACA-154B00A1BFB3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E97A4B78-6E10-BD17-DE81-976DCE8CD945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1613DB59-F43B-7790-BF71-3B939508EE5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710EC174-52C4-0825-9E4F-9E6669D7EB41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71E1B4E-F208-7713-C571-EE532F36A8C7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5197D6AD-55AB-BD54-74D3-0333A347750A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5D705E6F-070E-151D-32D5-28FE5FAD8895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8073DBB-3E53-5907-92C9-666649EB572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Как это работает</a:t>
            </a:r>
          </a:p>
        </p:txBody>
      </p:sp>
      <p:sp>
        <p:nvSpPr>
          <p:cNvPr id="34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12648" y="1371600"/>
            <a:ext cx="2011680" cy="237744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41248" y="1600200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21031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B3D"/>
                </a:solidFill>
                <a:latin typeface="Arial"/>
              </a:rPr>
              <a:t>Ввод данных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246888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9 параметров площадки в веб-форме</a:t>
            </a:r>
          </a:p>
        </p:txBody>
      </p:sp>
      <p:sp>
        <p:nvSpPr>
          <p:cNvPr id="38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2852928" y="1371600"/>
            <a:ext cx="2011680" cy="237744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3081528" y="1600200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81528" y="21031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B3D"/>
                </a:solidFill>
                <a:latin typeface="Arial"/>
              </a:rPr>
              <a:t>Оценка Jev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81528" y="246888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Один вызов, 4 вопроса: процент пригодности каждого типа</a:t>
            </a:r>
          </a:p>
        </p:txBody>
      </p:sp>
      <p:sp>
        <p:nvSpPr>
          <p:cNvPr id="42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5093208" y="1371600"/>
            <a:ext cx="2011680" cy="237744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5321808" y="1600200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21808" y="21031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B3D"/>
                </a:solidFill>
                <a:latin typeface="Arial"/>
              </a:rPr>
              <a:t>Смета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246888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Объёмы и цены региона с учётом коэффициента</a:t>
            </a:r>
          </a:p>
        </p:txBody>
      </p:sp>
      <p:sp>
        <p:nvSpPr>
          <p:cNvPr id="46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7333488" y="1371600"/>
            <a:ext cx="2011680" cy="237744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7562088" y="1600200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2088" y="21031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B3D"/>
                </a:solidFill>
                <a:latin typeface="Arial"/>
              </a:rPr>
              <a:t>Объяснение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2088" y="246888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DeepSeek пишет плюсы и минусы по готовым процентам</a:t>
            </a:r>
          </a:p>
        </p:txBody>
      </p:sp>
      <p:sp>
        <p:nvSpPr>
          <p:cNvPr id="50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9573767" y="1371600"/>
            <a:ext cx="2011680" cy="237744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9802367" y="1600200"/>
            <a:ext cx="429768" cy="329184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02367" y="21031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B3D"/>
                </a:solidFill>
                <a:latin typeface="Arial"/>
              </a:rPr>
              <a:t>Отчёт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2367" y="2468880"/>
            <a:ext cx="1600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B7892"/>
                </a:solidFill>
                <a:latin typeface="Arial"/>
              </a:rPr>
              <a:t>Матрица правил, риски и вывод, печать в PDF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406908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spc="100">
                <a:solidFill>
                  <a:srgbClr val="22A889"/>
                </a:solidFill>
                <a:latin typeface="Arial"/>
              </a:rPr>
              <a:t>ПРИМЕР ПУТИ ПОЛЬЗОВАТЕЛЯ</a:t>
            </a:r>
          </a:p>
        </p:txBody>
      </p:sp>
      <p:sp>
        <p:nvSpPr>
          <p:cNvPr id="55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12648" y="4343400"/>
            <a:ext cx="5852160" cy="150876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868680" y="4553712"/>
            <a:ext cx="5394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B3D"/>
                </a:solidFill>
                <a:latin typeface="Arial"/>
              </a:rPr>
              <a:t>Суглинок, средняя несущая способность, высокий УГВ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B3D"/>
                </a:solidFill>
                <a:latin typeface="Arial"/>
              </a:rPr>
              <a:t>3 этажа, 450 м², кирпич, резко континентальный климат, 7 баллов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F1B3D"/>
                </a:solidFill>
                <a:latin typeface="Arial"/>
              </a:rPr>
              <a:t>Результат: свайный рекомендован, плита и лента — альтернативы, столбчатый исключён по этажности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39128" y="4069080"/>
            <a:ext cx="4846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spc="100">
                <a:solidFill>
                  <a:srgbClr val="22A889"/>
                </a:solidFill>
                <a:latin typeface="Arial"/>
              </a:rPr>
              <a:t>ТЕХНОЛОГИИ</a:t>
            </a:r>
          </a:p>
        </p:txBody>
      </p:sp>
      <p:sp>
        <p:nvSpPr>
          <p:cNvPr id="58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/>
          <p:nvPr/>
        </p:nvSpPr>
        <p:spPr>
          <a:xfrm>
            <a:off x="6739128" y="4343400"/>
            <a:ext cx="4846320" cy="150876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/>
          <p:cNvSpPr txBox="1"/>
          <p:nvPr/>
        </p:nvSpPr>
        <p:spPr>
          <a:xfrm>
            <a:off x="6995160" y="4553712"/>
            <a:ext cx="4389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FFFFFF"/>
                </a:solidFill>
                <a:latin typeface="Arial"/>
              </a:rPr>
              <a:t>React, TypeScript, Vite, Tailwind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FFFFFF"/>
                </a:solidFill>
                <a:latin typeface="Arial"/>
              </a:rPr>
              <a:t>FastAPI, справочник правил в JSON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FFFFFF"/>
                </a:solidFill>
                <a:latin typeface="Arial"/>
              </a:rPr>
              <a:t>Jev и DeepSeek через OpenRouter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FFFFFF"/>
                </a:solidFill>
                <a:latin typeface="Arial"/>
              </a:rPr>
              <a:t>Без ключа — локальный движок правил</a:t>
            </a:r>
          </a:p>
        </p:txBody>
      </p:sp>
    </p:spTree>
    <p:extLst>
      <p:ext uri="{BB962C8B-B14F-4D97-AF65-F5344CB8AC3E}">
        <p14:creationId xmlns:p14="http://schemas.microsoft.com/office/powerpoint/2010/main" val="236342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AF0EA-3893-25ED-4B51-D9A60A735B08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067A4-A2D6-ADFA-4F31-D1F5656763F0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11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864B0945-D2C5-8C7B-9758-E18732F78CB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9C7B47C-7408-3FF4-156A-0CD3D73F7321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61B322C-1D7B-CC04-7E36-B09048B74CF3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9F17F71-6218-69E5-05B1-EEE247C1093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35A30F7-ED53-AC9D-34FB-4F6925F3C51C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6A0A320-EE7E-94CD-926F-B635F41512FD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FE5F157-ECEC-F3BA-AC01-B9A45577ED7E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01AE495-B83D-BFBA-9E32-137DCA2E4598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5621DC9-3A43-2057-CB99-29031D4CE09F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E7A7406-D636-75EE-DE77-4320E29C403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D2636A01-5FA0-1877-8CD7-B6A7B565A609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7DA5A7F-18ED-1943-CD32-133FFAE3DEE0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A2B505B-D50B-A589-5852-619B14C50AF8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A70926D9-6D6C-524D-5CE5-D96A51C50F59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B106AF4B-E091-8C73-1A44-61D7A70A6563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58C0B827-25E2-6D1F-51B5-73FF7751497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ED21031-2AF0-1DA6-03A7-CC62A4EF8193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EA49635-2F7F-234A-3BD4-33D753A0C9F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D0ABB53-38A5-8938-FDB5-649BFE76AC9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19823465-39A0-6EBA-E640-7C673001CCF2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3237425-D3A1-C61B-2C53-5686F6837445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C3537D7-FA97-643C-A3AE-E34FA7EBECBD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003B2ECC-1484-BFE6-7B9D-11C1BC44AD55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361B713-DA77-10B9-A687-1D2648CDE3A3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BB85CCA-6935-AD28-8D58-E6F058B59E31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B25BFA-8EED-A1CC-B5FB-D93D589F08AA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4990E04E-D57B-D175-BBB8-26F81DAA2C08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D6B8225-2A81-901A-AFE2-6C4934A03F7D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A833F5E4-357F-260D-F5F4-7B17B46CCB3A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18495C1-04CD-2622-03E6-2C0033777545}"/>
              </a:ext>
            </a:extLst>
          </p:cNvPr>
          <p:cNvSpPr txBox="1"/>
          <p:nvPr/>
        </p:nvSpPr>
        <p:spPr>
          <a:xfrm>
            <a:off x="612648" y="6210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Рабочий прототип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8515288-D36C-7503-11A5-D6602490E9D4}"/>
              </a:ext>
            </a:extLst>
          </p:cNvPr>
          <p:cNvSpPr/>
          <p:nvPr/>
        </p:nvSpPr>
        <p:spPr>
          <a:xfrm>
            <a:off x="609599" y="1320800"/>
            <a:ext cx="7072745" cy="444500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5875">
            <a:solidFill>
              <a:srgbClr val="9FB3C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0D47CA82-D99E-75E6-8E9D-75D9299071CC}"/>
              </a:ext>
            </a:extLst>
          </p:cNvPr>
          <p:cNvSpPr/>
          <p:nvPr/>
        </p:nvSpPr>
        <p:spPr>
          <a:xfrm>
            <a:off x="7924800" y="1320800"/>
            <a:ext cx="3657600" cy="4445000"/>
          </a:xfrm>
          <a:prstGeom prst="roundRect">
            <a:avLst>
              <a:gd name="adj" fmla="val 7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D6B02-9A64-74F6-3F56-1AADBD928CA1}"/>
              </a:ext>
            </a:extLst>
          </p:cNvPr>
          <p:cNvSpPr txBox="1"/>
          <p:nvPr/>
        </p:nvSpPr>
        <p:spPr>
          <a:xfrm>
            <a:off x="8229600" y="16002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7FE3C4"/>
                </a:solidFill>
                <a:latin typeface="Arial Black" panose="020B0A04020102020204" pitchFamily="34" charset="0"/>
              </a:rPr>
              <a:t>MVP</a:t>
            </a:r>
            <a:endParaRPr lang="ru-RU" sz="2400">
              <a:solidFill>
                <a:srgbClr val="7FE3C4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7E5ABA-3DEC-CBAB-E980-B1DC8764FF97}"/>
              </a:ext>
            </a:extLst>
          </p:cNvPr>
          <p:cNvSpPr txBox="1"/>
          <p:nvPr/>
        </p:nvSpPr>
        <p:spPr>
          <a:xfrm>
            <a:off x="8229600" y="2235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ЧТО УЖЕ РАБОТАЕТ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A1FE16-3F36-72E8-0F5C-09E6BEA6A814}"/>
              </a:ext>
            </a:extLst>
          </p:cNvPr>
          <p:cNvSpPr txBox="1"/>
          <p:nvPr/>
        </p:nvSpPr>
        <p:spPr>
          <a:xfrm>
            <a:off x="8229600" y="24638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dirty="0">
                <a:solidFill>
                  <a:srgbClr val="FFFFFF"/>
                </a:solidFill>
                <a:latin typeface="Arial" panose="020B0604020202020204" pitchFamily="34" charset="0"/>
              </a:rPr>
              <a:t>Форма ввода, оценка 4 типов, топ-3 с процентами, объяснения, отчёт для инженера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8EBB8-DF49-7ADF-F234-28D22DDEEF49}"/>
              </a:ext>
            </a:extLst>
          </p:cNvPr>
          <p:cNvSpPr txBox="1"/>
          <p:nvPr/>
        </p:nvSpPr>
        <p:spPr>
          <a:xfrm>
            <a:off x="8229600" y="3378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ЧТО ПОКАЖЕМ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096BCB-59EF-F856-3055-CE5A5F7EC10A}"/>
              </a:ext>
            </a:extLst>
          </p:cNvPr>
          <p:cNvSpPr txBox="1"/>
          <p:nvPr/>
        </p:nvSpPr>
        <p:spPr>
          <a:xfrm>
            <a:off x="8229600" y="36068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>
                <a:solidFill>
                  <a:srgbClr val="FFFFFF"/>
                </a:solidFill>
                <a:latin typeface="Arial" panose="020B0604020202020204" pitchFamily="34" charset="0"/>
              </a:rPr>
              <a:t>Полный расчёт на примере площадки и отчёт с матрицей правил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4F98D3-F880-70C0-A74F-ECBAAD1613DA}"/>
              </a:ext>
            </a:extLst>
          </p:cNvPr>
          <p:cNvSpPr txBox="1"/>
          <p:nvPr/>
        </p:nvSpPr>
        <p:spPr>
          <a:xfrm>
            <a:off x="8229600" y="4521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СЦЕНАРИЙ ВЖИВУЮ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5D7719-9690-932A-E36A-42C4FD4BB9AA}"/>
              </a:ext>
            </a:extLst>
          </p:cNvPr>
          <p:cNvSpPr txBox="1"/>
          <p:nvPr/>
        </p:nvSpPr>
        <p:spPr>
          <a:xfrm>
            <a:off x="8229600" y="47498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>
                <a:solidFill>
                  <a:srgbClr val="FFFFFF"/>
                </a:solidFill>
                <a:latin typeface="Arial" panose="020B0604020202020204" pitchFamily="34" charset="0"/>
              </a:rPr>
              <a:t>Суглинок, высокий УГВ, 3 этажа, кирпич, 7 баллов → свайный фундамент</a:t>
            </a:r>
          </a:p>
        </p:txBody>
      </p:sp>
      <p:pic>
        <p:nvPicPr>
          <p:cNvPr id="48" name="Picture 47" descr="crop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63040"/>
            <a:ext cx="3215096" cy="4169663"/>
          </a:xfrm>
          <a:prstGeom prst="rect">
            <a:avLst/>
          </a:prstGeom>
          <a:ln w="9525">
            <a:solidFill>
              <a:srgbClr val="DCE6EE"/>
            </a:solidFill>
          </a:ln>
        </p:spPr>
      </p:pic>
      <p:sp>
        <p:nvSpPr>
          <p:cNvPr id="49" name="TextBox 48"/>
          <p:cNvSpPr txBox="1"/>
          <p:nvPr/>
        </p:nvSpPr>
        <p:spPr>
          <a:xfrm>
            <a:off x="4224528" y="148132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spc="100">
                <a:solidFill>
                  <a:srgbClr val="22A889"/>
                </a:solidFill>
                <a:latin typeface="Arial"/>
              </a:rPr>
              <a:t>ОТЧЁТ: МАТРИЦА ПРАВИЛ</a:t>
            </a:r>
          </a:p>
        </p:txBody>
      </p:sp>
      <p:pic>
        <p:nvPicPr>
          <p:cNvPr id="50" name="Picture 49" descr="crop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1783080"/>
            <a:ext cx="3291840" cy="1827605"/>
          </a:xfrm>
          <a:prstGeom prst="rect">
            <a:avLst/>
          </a:prstGeom>
          <a:ln w="9525">
            <a:solidFill>
              <a:srgbClr val="DCE6EE"/>
            </a:solidFill>
          </a:ln>
        </p:spPr>
      </p:pic>
      <p:sp>
        <p:nvSpPr>
          <p:cNvPr id="51" name="TextBox 50"/>
          <p:cNvSpPr txBox="1"/>
          <p:nvPr/>
        </p:nvSpPr>
        <p:spPr>
          <a:xfrm>
            <a:off x="4224528" y="3794760"/>
            <a:ext cx="3291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6B7892"/>
                </a:solidFill>
                <a:latin typeface="Arial"/>
              </a:rPr>
              <a:t>Слева — результаты подбора: рекомендация и две альтернативы с процентами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6B7892"/>
                </a:solidFill>
                <a:latin typeface="Arial"/>
              </a:rPr>
              <a:t>Справа — фрагмент отчёта для инженера: вердикт и сила влияния по каждому фактору</a:t>
            </a:r>
          </a:p>
        </p:txBody>
      </p:sp>
    </p:spTree>
    <p:extLst>
      <p:ext uri="{BB962C8B-B14F-4D97-AF65-F5344CB8AC3E}">
        <p14:creationId xmlns:p14="http://schemas.microsoft.com/office/powerpoint/2010/main" val="1953851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3C7C5-F112-A241-5555-A9972866D94D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57A4F-FFC5-0531-4AA1-25362CF2F00C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12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CD72CB44-DBCA-627A-3ECD-26C504121302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ACF34C2-D1B4-9836-CF8A-D877CA27575F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E3DB0D1-4317-1EB8-9D87-AA8E74AECE5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F03C2C8-B464-ABE3-3804-7E306DB4D80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62689A18-A8BD-5F85-C350-770D38DFDF60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E75A7A9-BA9F-7300-AC15-2AE5737F3D5D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F7ED531-5407-5F75-B6FD-A9455442BE61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E74FF39-FE56-18EC-28B5-4A1900D72D42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CCCBF7B-A2D3-B372-2F50-2A8E5AA9F88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9DA643B-33CB-EA2F-7E8D-5B8EC797D4F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5453158D-4AA3-0E95-5889-07E88E0860BD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2075B89D-0A53-190A-B764-C34C241C04DB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E740332-4E8D-6217-99D2-C72C1101A4B4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95514AB-DA45-AC4B-83BB-7049037B300D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C9D1794-E6EA-BE16-F559-20DC4F68D37C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EB048D5-3BB3-F546-4FD5-EFD68169E17D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F655959D-B556-8E3A-EAE1-26441E39BCE0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C1CA9D4B-4C85-A36B-6140-D126A6E36C94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82C7C1B-F4AE-5BE5-E24D-BE1A71D88E57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96D0FE89-E0A7-D1DF-6CFC-40163D230113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2D1D948-A0B7-7356-2057-716CAD2BC2A2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FBD34DD-523E-1972-4FC0-96A2D5C1D3E5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2AE3E6BB-ED01-DA81-D7C3-1CFB4FB5AA82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BB6E3A25-CE80-CA94-B735-114B17376867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C44B231D-2F79-EEC3-FDF0-4B5CBE08CD90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F791778-8DF6-41F9-3372-1DE070DAC782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3C474C6F-85D8-C3A1-5B65-AC347069238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D556F8C2-7A93-3C60-6261-A119BA05B2D0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7695848-2C3B-5FDC-EA20-A1BF5BF9EB7D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0EB5353-F6CE-0869-F7DA-127DD7F8B11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Развитие проекта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6279473-B2B8-D7B5-1FCA-76C6A21C6332}"/>
              </a:ext>
            </a:extLst>
          </p:cNvPr>
          <p:cNvCxnSpPr/>
          <p:nvPr/>
        </p:nvCxnSpPr>
        <p:spPr>
          <a:xfrm>
            <a:off x="889000" y="1905000"/>
            <a:ext cx="10414000" cy="0"/>
          </a:xfrm>
          <a:prstGeom prst="line">
            <a:avLst/>
          </a:prstGeom>
          <a:ln w="25400">
            <a:solidFill>
              <a:srgbClr val="DC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Овал 34">
            <a:extLst>
              <a:ext uri="{FF2B5EF4-FFF2-40B4-BE49-F238E27FC236}">
                <a16:creationId xmlns:a16="http://schemas.microsoft.com/office/drawing/2014/main" id="{3BBDDE2D-D02D-BBAE-4CF7-70F759715D79}"/>
              </a:ext>
            </a:extLst>
          </p:cNvPr>
          <p:cNvSpPr/>
          <p:nvPr/>
        </p:nvSpPr>
        <p:spPr>
          <a:xfrm>
            <a:off x="86360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E202490-797A-8B50-DE75-671C4A43B7FD}"/>
              </a:ext>
            </a:extLst>
          </p:cNvPr>
          <p:cNvSpPr/>
          <p:nvPr/>
        </p:nvSpPr>
        <p:spPr>
          <a:xfrm>
            <a:off x="60960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1C3D01-4565-CC40-1A1D-6E905D29A9AA}"/>
              </a:ext>
            </a:extLst>
          </p:cNvPr>
          <p:cNvSpPr txBox="1"/>
          <p:nvPr/>
        </p:nvSpPr>
        <p:spPr>
          <a:xfrm>
            <a:off x="88900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01 · ХАКАТОН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D8A359-52A2-D002-4C89-698F59764DB7}"/>
              </a:ext>
            </a:extLst>
          </p:cNvPr>
          <p:cNvSpPr txBox="1"/>
          <p:nvPr/>
        </p:nvSpPr>
        <p:spPr>
          <a:xfrm>
            <a:off x="88900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F1B3D"/>
                </a:solidFill>
                <a:latin typeface="Arial" panose="020B0604020202020204" pitchFamily="34" charset="0"/>
              </a:rPr>
              <a:t>MVP готов</a:t>
            </a:r>
            <a:endParaRPr lang="ru-RU" b="1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6B724A-0803-6903-B2FA-805287FBEC62}"/>
              </a:ext>
            </a:extLst>
          </p:cNvPr>
          <p:cNvSpPr txBox="1"/>
          <p:nvPr/>
        </p:nvSpPr>
        <p:spPr>
          <a:xfrm>
            <a:off x="889000" y="38100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6B7892"/>
                </a:solidFill>
                <a:latin typeface="Arial" panose="020B0604020202020204" pitchFamily="34" charset="0"/>
              </a:rPr>
              <a:t>Форма ввода, оценка 4 типов через Jev, объяснения DeepSeek, отчёт для инженера с матрицей правил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03968FD-882B-E7D6-11F8-2F37A233B2F5}"/>
              </a:ext>
            </a:extLst>
          </p:cNvPr>
          <p:cNvSpPr/>
          <p:nvPr/>
        </p:nvSpPr>
        <p:spPr>
          <a:xfrm>
            <a:off x="458851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680C7A71-F7E4-FD06-CC74-B19745CE15DC}"/>
              </a:ext>
            </a:extLst>
          </p:cNvPr>
          <p:cNvSpPr/>
          <p:nvPr/>
        </p:nvSpPr>
        <p:spPr>
          <a:xfrm>
            <a:off x="433451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FABF28-7B82-8842-4F45-E6B40DC12AC5}"/>
              </a:ext>
            </a:extLst>
          </p:cNvPr>
          <p:cNvSpPr txBox="1"/>
          <p:nvPr/>
        </p:nvSpPr>
        <p:spPr>
          <a:xfrm>
            <a:off x="461391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02 · БЛИЖАЙШИЙ ЭТАП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069D35-8C66-02ED-750A-40AD0E43632A}"/>
              </a:ext>
            </a:extLst>
          </p:cNvPr>
          <p:cNvSpPr txBox="1"/>
          <p:nvPr/>
        </p:nvSpPr>
        <p:spPr>
          <a:xfrm>
            <a:off x="461391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0F1B3D"/>
                </a:solidFill>
                <a:latin typeface="Arial" panose="020B0604020202020204" pitchFamily="34" charset="0"/>
              </a:rPr>
              <a:t>Пилот с заказчиком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421FBE-0DE8-BA50-AD7F-171A7115DBCF}"/>
              </a:ext>
            </a:extLst>
          </p:cNvPr>
          <p:cNvSpPr txBox="1"/>
          <p:nvPr/>
        </p:nvSpPr>
        <p:spPr>
          <a:xfrm>
            <a:off x="4613910" y="38100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6B7892"/>
                </a:solidFill>
                <a:latin typeface="Arial" panose="020B0604020202020204" pitchFamily="34" charset="0"/>
              </a:rPr>
              <a:t>Стоимость и трудозатраты в интерфейсе, цены из ФГИС ЦС, замер времени и числа итераций проверки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00F86E36-DAE0-BFF2-354D-7B807A915282}"/>
              </a:ext>
            </a:extLst>
          </p:cNvPr>
          <p:cNvSpPr/>
          <p:nvPr/>
        </p:nvSpPr>
        <p:spPr>
          <a:xfrm>
            <a:off x="831342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347244A-AC82-DC48-7311-A94C4635A6B8}"/>
              </a:ext>
            </a:extLst>
          </p:cNvPr>
          <p:cNvSpPr/>
          <p:nvPr/>
        </p:nvSpPr>
        <p:spPr>
          <a:xfrm>
            <a:off x="805942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D0AC93-A645-23C6-3909-CF969B15C369}"/>
              </a:ext>
            </a:extLst>
          </p:cNvPr>
          <p:cNvSpPr txBox="1"/>
          <p:nvPr/>
        </p:nvSpPr>
        <p:spPr>
          <a:xfrm>
            <a:off x="833882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03 · ДАЛЬШЕ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A285FE-1752-EF37-1BD5-E49344F109F8}"/>
              </a:ext>
            </a:extLst>
          </p:cNvPr>
          <p:cNvSpPr txBox="1"/>
          <p:nvPr/>
        </p:nvSpPr>
        <p:spPr>
          <a:xfrm>
            <a:off x="833882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0F1B3D"/>
                </a:solidFill>
                <a:latin typeface="Arial" panose="020B0604020202020204" pitchFamily="34" charset="0"/>
              </a:rPr>
              <a:t>Масштабирование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D3F2C1-D63A-E826-311A-F1EFF3A27F1B}"/>
              </a:ext>
            </a:extLst>
          </p:cNvPr>
          <p:cNvSpPr txBox="1"/>
          <p:nvPr/>
        </p:nvSpPr>
        <p:spPr>
          <a:xfrm>
            <a:off x="8338820" y="38100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6B7892"/>
                </a:solidFill>
                <a:latin typeface="Arial" panose="020B0604020202020204" pitchFamily="34" charset="0"/>
              </a:rPr>
              <a:t>Слои грунта и нагрузки, комбинированные фундаменты, выгрузка в ТИМ и интеграция с САПР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6F216C-A989-2F3A-4D24-AD727A27AB91}"/>
              </a:ext>
            </a:extLst>
          </p:cNvPr>
          <p:cNvSpPr txBox="1"/>
          <p:nvPr/>
        </p:nvSpPr>
        <p:spPr>
          <a:xfrm>
            <a:off x="609600" y="1371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>
                <a:solidFill>
                  <a:srgbClr val="6B7892"/>
                </a:solidFill>
                <a:latin typeface="Arial" panose="020B0604020202020204" pitchFamily="34" charset="0"/>
              </a:rPr>
              <a:t>Пилот — к началу строительного сезона: пик интереса к фундаментам приходится на апрель–май</a:t>
            </a:r>
          </a:p>
        </p:txBody>
      </p:sp>
    </p:spTree>
    <p:extLst>
      <p:ext uri="{BB962C8B-B14F-4D97-AF65-F5344CB8AC3E}">
        <p14:creationId xmlns:p14="http://schemas.microsoft.com/office/powerpoint/2010/main" val="153181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D4B053-CF93-4E4D-8BFF-AA4815288D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B3B56-ACC5-250E-53C8-EF40C631D832}"/>
              </a:ext>
            </a:extLst>
          </p:cNvPr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 И ИТОГ   ·   13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7349A296-9F81-A56B-1DA9-09604D220E9A}"/>
              </a:ext>
            </a:extLst>
          </p:cNvPr>
          <p:cNvGrpSpPr/>
          <p:nvPr/>
        </p:nvGrpSpPr>
        <p:grpSpPr>
          <a:xfrm>
            <a:off x="11353800" y="381000"/>
            <a:ext cx="231140" cy="195580"/>
            <a:chOff x="11353800" y="3810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9B7AF94-DFC6-FF6D-726E-CD589C976BBE}"/>
                </a:ext>
              </a:extLst>
            </p:cNvPr>
            <p:cNvSpPr/>
            <p:nvPr/>
          </p:nvSpPr>
          <p:spPr>
            <a:xfrm>
              <a:off x="1138936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621976D-FC1E-6A5D-B1B8-3F71DC641130}"/>
                </a:ext>
              </a:extLst>
            </p:cNvPr>
            <p:cNvSpPr/>
            <p:nvPr/>
          </p:nvSpPr>
          <p:spPr>
            <a:xfrm>
              <a:off x="114071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4EC5174-99A7-642D-C063-65478A67E10D}"/>
                </a:ext>
              </a:extLst>
            </p:cNvPr>
            <p:cNvSpPr/>
            <p:nvPr/>
          </p:nvSpPr>
          <p:spPr>
            <a:xfrm>
              <a:off x="114249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93FBB3D-4148-00AE-CFAA-20B8873E5779}"/>
                </a:ext>
              </a:extLst>
            </p:cNvPr>
            <p:cNvSpPr/>
            <p:nvPr/>
          </p:nvSpPr>
          <p:spPr>
            <a:xfrm>
              <a:off x="114960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0D6A5E9-FD67-8D6A-BB61-8C6A8EC6CC76}"/>
                </a:ext>
              </a:extLst>
            </p:cNvPr>
            <p:cNvSpPr/>
            <p:nvPr/>
          </p:nvSpPr>
          <p:spPr>
            <a:xfrm>
              <a:off x="115138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2E8D802-6D3E-810A-B315-11F93EFF13D9}"/>
                </a:ext>
              </a:extLst>
            </p:cNvPr>
            <p:cNvSpPr/>
            <p:nvPr/>
          </p:nvSpPr>
          <p:spPr>
            <a:xfrm>
              <a:off x="1153160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8B587BF-E332-2788-E727-46979D46D590}"/>
                </a:ext>
              </a:extLst>
            </p:cNvPr>
            <p:cNvSpPr/>
            <p:nvPr/>
          </p:nvSpPr>
          <p:spPr>
            <a:xfrm>
              <a:off x="113715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66CBE84-041A-CC16-9999-BEE9B8B88838}"/>
                </a:ext>
              </a:extLst>
            </p:cNvPr>
            <p:cNvSpPr/>
            <p:nvPr/>
          </p:nvSpPr>
          <p:spPr>
            <a:xfrm>
              <a:off x="1144270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53AFE4E-C62C-F38F-45DA-8B666D3E743A}"/>
                </a:ext>
              </a:extLst>
            </p:cNvPr>
            <p:cNvSpPr/>
            <p:nvPr/>
          </p:nvSpPr>
          <p:spPr>
            <a:xfrm>
              <a:off x="1147826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70B84A8-92DE-1811-3312-340ECF1AC5A4}"/>
                </a:ext>
              </a:extLst>
            </p:cNvPr>
            <p:cNvSpPr/>
            <p:nvPr/>
          </p:nvSpPr>
          <p:spPr>
            <a:xfrm>
              <a:off x="115493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04F5979-812C-9F8E-4EDF-5203C2E83669}"/>
                </a:ext>
              </a:extLst>
            </p:cNvPr>
            <p:cNvSpPr/>
            <p:nvPr/>
          </p:nvSpPr>
          <p:spPr>
            <a:xfrm>
              <a:off x="1135380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834610C-7E31-DB69-83D1-F00743E2F4DE}"/>
                </a:ext>
              </a:extLst>
            </p:cNvPr>
            <p:cNvSpPr/>
            <p:nvPr/>
          </p:nvSpPr>
          <p:spPr>
            <a:xfrm>
              <a:off x="11460480" y="41656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8DF7A76C-1F97-AB0F-4C80-687CBCDB2188}"/>
                </a:ext>
              </a:extLst>
            </p:cNvPr>
            <p:cNvSpPr/>
            <p:nvPr/>
          </p:nvSpPr>
          <p:spPr>
            <a:xfrm>
              <a:off x="1156716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DE14151-28BA-DB18-F7F8-B0B0FFC469AD}"/>
                </a:ext>
              </a:extLst>
            </p:cNvPr>
            <p:cNvSpPr/>
            <p:nvPr/>
          </p:nvSpPr>
          <p:spPr>
            <a:xfrm>
              <a:off x="1135380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0A3E37C-6735-A0AD-0973-F9565E5DC332}"/>
                </a:ext>
              </a:extLst>
            </p:cNvPr>
            <p:cNvSpPr/>
            <p:nvPr/>
          </p:nvSpPr>
          <p:spPr>
            <a:xfrm>
              <a:off x="1156716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BD1CED8-919C-3F6D-9221-7A983B88C01D}"/>
                </a:ext>
              </a:extLst>
            </p:cNvPr>
            <p:cNvSpPr/>
            <p:nvPr/>
          </p:nvSpPr>
          <p:spPr>
            <a:xfrm>
              <a:off x="1135380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CC2210E-B005-10C5-E21D-1FB2B35EB521}"/>
                </a:ext>
              </a:extLst>
            </p:cNvPr>
            <p:cNvSpPr/>
            <p:nvPr/>
          </p:nvSpPr>
          <p:spPr>
            <a:xfrm>
              <a:off x="1156716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E09B1D6-4292-2364-1C62-FE93E62F5AA0}"/>
                </a:ext>
              </a:extLst>
            </p:cNvPr>
            <p:cNvSpPr/>
            <p:nvPr/>
          </p:nvSpPr>
          <p:spPr>
            <a:xfrm>
              <a:off x="113715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8D48C0B-CDAD-DC15-0391-3E660F796DD3}"/>
                </a:ext>
              </a:extLst>
            </p:cNvPr>
            <p:cNvSpPr/>
            <p:nvPr/>
          </p:nvSpPr>
          <p:spPr>
            <a:xfrm>
              <a:off x="115493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C132612-6BE5-7A4C-4E2E-8639464B453D}"/>
                </a:ext>
              </a:extLst>
            </p:cNvPr>
            <p:cNvSpPr/>
            <p:nvPr/>
          </p:nvSpPr>
          <p:spPr>
            <a:xfrm>
              <a:off x="1138936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36E3073-2B60-8250-7611-00A894DEA1AC}"/>
                </a:ext>
              </a:extLst>
            </p:cNvPr>
            <p:cNvSpPr/>
            <p:nvPr/>
          </p:nvSpPr>
          <p:spPr>
            <a:xfrm>
              <a:off x="1153160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164DDA8-5D7F-6601-6F7A-9E3EF5FBD9FC}"/>
                </a:ext>
              </a:extLst>
            </p:cNvPr>
            <p:cNvSpPr/>
            <p:nvPr/>
          </p:nvSpPr>
          <p:spPr>
            <a:xfrm>
              <a:off x="1140714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02274A8F-E227-4A83-A619-7B189F95F2A3}"/>
                </a:ext>
              </a:extLst>
            </p:cNvPr>
            <p:cNvSpPr/>
            <p:nvPr/>
          </p:nvSpPr>
          <p:spPr>
            <a:xfrm>
              <a:off x="1151382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45FB34A0-B3B5-E9C4-37FC-161C48682717}"/>
                </a:ext>
              </a:extLst>
            </p:cNvPr>
            <p:cNvSpPr/>
            <p:nvPr/>
          </p:nvSpPr>
          <p:spPr>
            <a:xfrm>
              <a:off x="1142492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3BD10591-24F1-0A44-028E-83EF0D90F950}"/>
                </a:ext>
              </a:extLst>
            </p:cNvPr>
            <p:cNvSpPr/>
            <p:nvPr/>
          </p:nvSpPr>
          <p:spPr>
            <a:xfrm>
              <a:off x="1149604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FBC376AA-9E27-6EDC-5566-0CDD3C3AC94F}"/>
                </a:ext>
              </a:extLst>
            </p:cNvPr>
            <p:cNvSpPr/>
            <p:nvPr/>
          </p:nvSpPr>
          <p:spPr>
            <a:xfrm>
              <a:off x="1144270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603D9F25-F3BE-4B99-8C7D-7777B031212B}"/>
                </a:ext>
              </a:extLst>
            </p:cNvPr>
            <p:cNvSpPr/>
            <p:nvPr/>
          </p:nvSpPr>
          <p:spPr>
            <a:xfrm>
              <a:off x="1147826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3AC60D43-0DA9-477E-906D-CA7191F1C980}"/>
                </a:ext>
              </a:extLst>
            </p:cNvPr>
            <p:cNvSpPr/>
            <p:nvPr/>
          </p:nvSpPr>
          <p:spPr>
            <a:xfrm>
              <a:off x="11460480" y="5588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C9F536-168F-D36E-CF6B-C96E33DCF5C1}"/>
              </a:ext>
            </a:extLst>
          </p:cNvPr>
          <p:cNvSpPr/>
          <p:nvPr/>
        </p:nvSpPr>
        <p:spPr>
          <a:xfrm>
            <a:off x="609600" y="812800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841CE1-D276-5F00-2456-5C100EAECAA7}"/>
              </a:ext>
            </a:extLst>
          </p:cNvPr>
          <p:cNvSpPr txBox="1"/>
          <p:nvPr/>
        </p:nvSpPr>
        <p:spPr>
          <a:xfrm>
            <a:off x="9144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9FE3A2-1542-12FA-C953-5AC6A5E531DF}"/>
              </a:ext>
            </a:extLst>
          </p:cNvPr>
          <p:cNvSpPr txBox="1"/>
          <p:nvPr/>
        </p:nvSpPr>
        <p:spPr>
          <a:xfrm>
            <a:off x="9144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FFFFFF"/>
                </a:solidFill>
                <a:latin typeface="Arial" panose="020B0604020202020204" pitchFamily="34" charset="0"/>
              </a:rPr>
              <a:t>Вводим параметры площадки → получаем рейтинг 4 типов, объяснение и отчёт для инженера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1499B41-41FE-FD78-74D7-BE8E095FE5B3}"/>
              </a:ext>
            </a:extLst>
          </p:cNvPr>
          <p:cNvSpPr/>
          <p:nvPr/>
        </p:nvSpPr>
        <p:spPr>
          <a:xfrm>
            <a:off x="6248400" y="812800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FB5319-F724-977F-F91D-8FD7813302DA}"/>
              </a:ext>
            </a:extLst>
          </p:cNvPr>
          <p:cNvSpPr txBox="1"/>
          <p:nvPr/>
        </p:nvSpPr>
        <p:spPr>
          <a:xfrm>
            <a:off x="65532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ГЛАВНАЯ МЫСЛЬ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43675E-4B33-3568-AC61-FCCB01A9E9C9}"/>
              </a:ext>
            </a:extLst>
          </p:cNvPr>
          <p:cNvSpPr txBox="1"/>
          <p:nvPr/>
        </p:nvSpPr>
        <p:spPr>
          <a:xfrm>
            <a:off x="65532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FFFFFF"/>
                </a:solidFill>
                <a:latin typeface="Arial" panose="020B0604020202020204" pitchFamily="34" charset="0"/>
              </a:rPr>
              <a:t>Выбор фундамента за минуты и с прозрачным обоснованием, а не через 3+ итерации проверки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D5842-5EDC-F00F-6188-651F6D1A8930}"/>
              </a:ext>
            </a:extLst>
          </p:cNvPr>
          <p:cNvSpPr txBox="1"/>
          <p:nvPr/>
        </p:nvSpPr>
        <p:spPr>
          <a:xfrm>
            <a:off x="609600" y="3327400"/>
            <a:ext cx="109728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000">
                <a:solidFill>
                  <a:srgbClr val="FFFFFF"/>
                </a:solidFill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F9A288-DB04-463F-F2D7-B15A66481E01}"/>
              </a:ext>
            </a:extLst>
          </p:cNvPr>
          <p:cNvSpPr txBox="1"/>
          <p:nvPr/>
        </p:nvSpPr>
        <p:spPr>
          <a:xfrm>
            <a:off x="609600" y="4089400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>
                <a:solidFill>
                  <a:srgbClr val="FFFFFF"/>
                </a:solidFill>
                <a:latin typeface="Arial" panose="020B0604020202020204" pitchFamily="34" charset="0"/>
              </a:rPr>
              <a:t>Готовы показать продукт и ответить на вопросы.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A2864A-8291-0FCD-87F7-6AD29F689E90}"/>
              </a:ext>
            </a:extLst>
          </p:cNvPr>
          <p:cNvSpPr txBox="1"/>
          <p:nvPr/>
        </p:nvSpPr>
        <p:spPr>
          <a:xfrm>
            <a:off x="609600" y="63500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«Пятый элемент» 2026 · 26–27 сентября · СФУ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1040246-9F45-5F25-1BED-63715E06D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40" y="73047"/>
            <a:ext cx="6595920" cy="68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703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1502</Words>
  <Application>Microsoft Office PowerPoint</Application>
  <PresentationFormat>Широкоэкранный</PresentationFormat>
  <Paragraphs>239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Arial Black</vt:lpstr>
      <vt:lpstr>Plus Jakarta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Гурбатов</dc:creator>
  <cp:lastModifiedBy>Иван Тихненко</cp:lastModifiedBy>
  <cp:revision>13</cp:revision>
  <dcterms:created xsi:type="dcterms:W3CDTF">2026-09-26T12:28:36Z</dcterms:created>
  <dcterms:modified xsi:type="dcterms:W3CDTF">2026-09-27T02:35:50Z</dcterms:modified>
</cp:coreProperties>
</file>